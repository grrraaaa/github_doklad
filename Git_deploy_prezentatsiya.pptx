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1" r:id="rId6"/>
    <p:sldId id="272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7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90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2588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Приветствие 1 мин: кто я, о чём доклад, обещание — в конце чек-лист из 5 правил и живое демо PR.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Обзор 1 мин: перечисляю 7 тем, говорю что на каждом слайде минимум текста, детали рассказываю голосом.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Git 2 мин: снапшоты, commit/branch/merge, локально всё, удалённый репозиторий — страховка. Показать скрин git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 мин: Git — инструмент, GitHub/GitLab — хостинги. GitHub — экосистема, GitLab — комбайн с CI. Для курса неважно, команды одни.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0343C-D86B-DCA6-E184-BBE76FC6D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8207A8-CAC8-6A16-2932-FB10398914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AE80E6-A537-6B42-7F68-405BD97013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 мин: Git — инструмент, GitHub/GitLab — хостинги. GitHub — экосистема, GitLab — комбайн с CI. Для курса неважно, команды одни.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D5F07A-3B7F-D213-D972-6B580FBAFE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093243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A68E7-2457-B4B6-FA92-DF0CF58DB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0A112A-9931-DEC5-28A1-552DF60682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ED0A6C-2649-EBD9-08AF-E2A03CFB16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 мин: Git — инструмент, GitHub/GitLab — хостинги. GitHub — экосистема, GitLab — комбайн с CI. Для курса неважно, команды одни.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3D585C-33F1-9FE5-6223-C63A945994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393134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 мин: агент = цикл plan-act-observe. Умеет: issue→код→тесты→PR→деплой на stage, откат. Не умеет: ответственность. Человек жмёт merge в прод.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1.5 мин: показываю цепочку, подчёркиваю gate: прод только руками. Пример: Copilot workspace / агент в CI чинит упавший тест.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 мин: анатомия: main стабилен, работа только в ветках, hotfix — короткая ветка от main. Аналогия: main — витрина, ветки — мастерская.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ФИШКА 2 мин: кейс — команда стоит час (−500), hotfix-ветка за 20 мин возвращает прод (+200 относительно долгого простоя). Мораль: ветки экономят простой.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 мин: жизненный цикл по шагам, каждый оставляет след: issue, ветка, коммиты, PR, деплой. Пропуск шага = невидимая работа = риск.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1.5 мин: три окружения, деплой идёт лесенкой. В dev — агент хоть каждый коммит, в prod — только после review и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 мин: PR — просьба влить + место дискуссии. Хороший PR: маленький, с описанием, с зелёным CI. Кнопка merge — после двух галочек.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 мин: чек-лист ревью, правило 15 минут, approve/request changes, suggestion-фича. Тон решает: правим код, хвалим человека.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 мин: конфликт — не ошибка, а встреча двух правок. Показать маркеры, правило: говорим с автором второй правки, частый pull лечит.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 мин: финал-чеклист, прошу сфотографировать слайд. Каждое правило — итог одной темы.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Финал 3 мин: вопросы + живое демо: создать ветку, коммит, PR, review самому себе, merge, показать граф. Призыв: завести репозиторий сегодня.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0A1A5D-5A81-47DB-BE2C-03E0990F0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200"/>
            <a:ext cx="9144000" cy="19431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D18D89D-FEB0-4064-AD3B-357BF020BC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08CCA0-7AC9-4458-99BC-25257703B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985775-DA12-4519-AD4E-BF0D8B5A28A2}" type="datetimeFigureOut">
              <a:rPr lang="ru-RU" smtClean="0"/>
              <a:pPr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7410E7-85CD-46DA-BC17-903832138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C549DF-D60D-41D0-9ADE-DA8EA16AD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9F1CE1-AE97-4474-A621-9FAA4F63F5A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7665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C2F858-143C-49BF-AC24-DDE5A5694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607090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A1AEBE-8905-4864-B3FD-4CD04946E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A079D8C-B135-4B29-9B74-4C89FD7E531F}"/>
              </a:ext>
            </a:extLst>
          </p:cNvPr>
          <p:cNvSpPr/>
          <p:nvPr userDrawn="1"/>
        </p:nvSpPr>
        <p:spPr>
          <a:xfrm>
            <a:off x="8625840" y="6644640"/>
            <a:ext cx="3600000" cy="213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F0D1648-B806-40EE-B6E3-7634106F579D}"/>
              </a:ext>
            </a:extLst>
          </p:cNvPr>
          <p:cNvSpPr/>
          <p:nvPr userDrawn="1"/>
        </p:nvSpPr>
        <p:spPr>
          <a:xfrm>
            <a:off x="0" y="-22383"/>
            <a:ext cx="3600000" cy="213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D45F2DE-3202-46E3-A4DF-1E1F8D2367F3}"/>
              </a:ext>
            </a:extLst>
          </p:cNvPr>
          <p:cNvSpPr/>
          <p:nvPr userDrawn="1"/>
        </p:nvSpPr>
        <p:spPr>
          <a:xfrm rot="16200000">
            <a:off x="8820811" y="3139757"/>
            <a:ext cx="6492875" cy="2133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4E4023C-83D7-4B9B-83E0-97AB0F4AC43B}"/>
              </a:ext>
            </a:extLst>
          </p:cNvPr>
          <p:cNvSpPr/>
          <p:nvPr userDrawn="1"/>
        </p:nvSpPr>
        <p:spPr>
          <a:xfrm rot="16200000">
            <a:off x="-3139758" y="3504883"/>
            <a:ext cx="6492875" cy="2133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7804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C2F858-143C-49BF-AC24-DDE5A5694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870539" cy="1325563"/>
          </a:xfrm>
        </p:spPr>
        <p:txBody>
          <a:bodyPr/>
          <a:lstStyle>
            <a:lvl1pPr>
              <a:defRPr b="1">
                <a:solidFill>
                  <a:srgbClr val="607090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A1AEBE-8905-4864-B3FD-4CD04946E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70539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8B632DE5-F5F2-4462-94DA-690026333B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32750" y="0"/>
            <a:ext cx="4159250" cy="685800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2334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1134973-9603-4EB5-B737-91F29D4CD883}"/>
              </a:ext>
            </a:extLst>
          </p:cNvPr>
          <p:cNvSpPr/>
          <p:nvPr userDrawn="1"/>
        </p:nvSpPr>
        <p:spPr>
          <a:xfrm>
            <a:off x="563880" y="428043"/>
            <a:ext cx="11155680" cy="5991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AAAB7C-7C1B-4105-BE24-F811EBB40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607090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ECA37A-4894-4A33-9EBE-8B2E35025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83A43-64E5-4616-89E6-626296516E98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230E9E2-71FB-4D16-B449-EA5254AC7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F10A82-3FA8-48BC-A562-4BDCC940C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B69BD-07F3-416C-B560-DF49FE6E3236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F0D9FAC9-46ED-4B2F-8516-B63FF235431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0" y="2301875"/>
            <a:ext cx="4895129" cy="1568450"/>
          </a:xfrm>
        </p:spPr>
        <p:txBody>
          <a:bodyPr/>
          <a:lstStyle/>
          <a:p>
            <a:endParaRPr lang="ru-RU"/>
          </a:p>
        </p:txBody>
      </p:sp>
      <p:sp>
        <p:nvSpPr>
          <p:cNvPr id="21" name="Текст 14">
            <a:extLst>
              <a:ext uri="{FF2B5EF4-FFF2-40B4-BE49-F238E27FC236}">
                <a16:creationId xmlns:a16="http://schemas.microsoft.com/office/drawing/2014/main" id="{4413139B-1729-455B-B830-4DAB12D9B25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58672" y="4428023"/>
            <a:ext cx="4879887" cy="1355725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2" name="Текст 14">
            <a:extLst>
              <a:ext uri="{FF2B5EF4-FFF2-40B4-BE49-F238E27FC236}">
                <a16:creationId xmlns:a16="http://schemas.microsoft.com/office/drawing/2014/main" id="{222B09F7-7246-4274-A513-9BEACBF61E1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1" y="4428022"/>
            <a:ext cx="4879888" cy="1355725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2" name="Рисунок 9">
            <a:extLst>
              <a:ext uri="{FF2B5EF4-FFF2-40B4-BE49-F238E27FC236}">
                <a16:creationId xmlns:a16="http://schemas.microsoft.com/office/drawing/2014/main" id="{4B61BE1B-0619-47D5-8D00-1DBE9B7F40B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458672" y="2320617"/>
            <a:ext cx="4940847" cy="156845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6887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14E300-70A9-4046-B13A-C580CDF08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607090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2941CF8-4508-43CA-BA33-C0B9ED753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5775-DA12-4519-AD4E-BF0D8B5A28A2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F7B9934-7384-4A83-8B0E-FFF486DDF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4F36D14-7448-4ACB-B1EC-DDDAAA955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3438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C2F858-143C-49BF-AC24-DDE5A5694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A1AEBE-8905-4864-B3FD-4CD04946E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72816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6F616B-C814-43CB-9D66-2ACCE175F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AE93A1-6738-46E4-8F22-EE921A983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78392C-C9F7-4DEF-AA81-542C2AAC7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5775-DA12-4519-AD4E-BF0D8B5A28A2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0A34EB-7EF1-4575-A605-E6075A635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F6B72C-E973-4717-9B32-EB861DCB2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8719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9AC03E-CC96-46B4-8F06-809941B60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D83CB0-A9EB-4FCC-AFF1-9C0719455B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2A519CA-8C32-464E-AB8C-C7DAE493B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389CDC-954B-4F3C-8708-20D835E73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5775-DA12-4519-AD4E-BF0D8B5A28A2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021DA71-9B62-4B5B-9FC5-8A2FE4CE5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BC5407C-33E1-4753-B9AC-F00DBA808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074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663584-63A5-4369-B563-05FB35552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38BDB9A-93BD-4EBA-9434-1716F8976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C6B4D10-58E3-4843-B773-ACE304291F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F791276-15DC-4AAA-A29A-7294AAED51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984DE98-0C02-460E-AEB8-1FFCF6EE59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AE545B8-BE5D-416A-A9C4-DD9421383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5775-DA12-4519-AD4E-BF0D8B5A28A2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03D84F0-63EB-4F1F-A304-21FC57730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6BA2A66-252D-4BBD-AD7E-3C84EC958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7985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A3F95C-774F-4E30-AE17-04AC0612D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A740606-3AD8-42ED-B129-A3DEC06BC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5775-DA12-4519-AD4E-BF0D8B5A28A2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47C616E-EC5D-4161-B871-4DBFA23F1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17A186C-6BE5-484A-94F6-B5CFB1FB3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5219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4059D37-F92B-4726-A34B-164AC46F6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5775-DA12-4519-AD4E-BF0D8B5A28A2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EB8A300-DCC2-4DBC-89F3-19460679B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AE01FBC-E1B1-44CF-B5F4-B0621F58B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7877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CDE81A-B789-490D-9823-1DCB79555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E3DE41-335B-4255-BD1B-1BD5FD769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1CDC965-EE27-49DE-926C-3E4E5F353E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87F107-3B06-47AE-890B-4028A5F72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5775-DA12-4519-AD4E-BF0D8B5A28A2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4E7A224-216B-43E1-A95E-10F95BB0F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5BF9C8F-012F-410C-9624-42ADB56B0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38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7FA0CA-376B-46DC-813B-5E5FBFAAC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1EBA494-E82E-4757-A3C0-955EA65D11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3117C38-1525-4DAA-A6A8-79732457C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CF361C5-F126-4C0B-AE3A-2CBA980EF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5775-DA12-4519-AD4E-BF0D8B5A28A2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F4F4485-29FD-4F98-96FC-E5D8DCB98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42FB67-03FB-449E-89B5-DF67F63DA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1768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75B5E7-60F9-464C-B174-D06589C57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28484D1-D333-4AE1-BBFC-CD1DEC20F3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A59D6A-B58D-4E95-A396-200C9B9BC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5775-DA12-4519-AD4E-BF0D8B5A28A2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B437D5-797B-49CA-AD3B-BE3CAF57E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1F4BFD-DCAB-4FA8-B42C-658D6832F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8691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DD7D349-5ABD-40CA-91CD-9AC19B7C01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28E4FE5-4CB9-457C-9776-A6FC25BBA2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DF420E-C006-48BA-ACD0-A009889F4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5775-DA12-4519-AD4E-BF0D8B5A28A2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6841BA-4A5C-4F80-82B2-3FE13D1DF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5348BA-A8D9-4752-9849-D1F480476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7169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hyperlink" Target="https://presentation-creation.ru/" TargetMode="Externa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569195-B136-450A-9EBB-E4D32554B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56AFD3-762E-431D-8169-48E9431F2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B0A7F1-90CF-4B8D-9FE0-9796384F4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985775-DA12-4519-AD4E-BF0D8B5A28A2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2E4D6C-F1D3-4A14-8D0D-B4CCD0AC81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ACE525-741D-45DF-830F-DE1754B07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7"/>
            <a:extLst>
              <a:ext uri="{FF2B5EF4-FFF2-40B4-BE49-F238E27FC236}">
                <a16:creationId xmlns:a16="http://schemas.microsoft.com/office/drawing/2014/main" id="{5B02C175-E080-45D1-9C7B-D1AA06E5A429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94000" y="367393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726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3" r:id="rId4"/>
    <p:sldLayoutId id="2147483661" r:id="rId5"/>
    <p:sldLayoutId id="214748366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764" y="1600200"/>
            <a:ext cx="9144000" cy="1943100"/>
          </a:xfrm>
        </p:spPr>
        <p:txBody>
          <a:bodyPr>
            <a:normAutofit/>
          </a:bodyPr>
          <a:lstStyle/>
          <a:p>
            <a:r>
              <a:rPr lang="en-US" sz="12000" dirty="0">
                <a:highlight>
                  <a:srgbClr val="000000"/>
                </a:highlight>
                <a:latin typeface="Calibri Light"/>
              </a:rPr>
              <a:t>Git</a:t>
            </a:r>
            <a:endParaRPr sz="12000" dirty="0">
              <a:highlight>
                <a:srgbClr val="000000"/>
              </a:highlight>
              <a:latin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85614" y="3980825"/>
            <a:ext cx="9144000" cy="1655762"/>
          </a:xfrm>
        </p:spPr>
        <p:txBody>
          <a:bodyPr/>
          <a:lstStyle/>
          <a:p>
            <a:r>
              <a:rPr dirty="0" err="1">
                <a:highlight>
                  <a:srgbClr val="000000"/>
                </a:highlight>
              </a:rPr>
              <a:t>Как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не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лежать</a:t>
            </a:r>
            <a:r>
              <a:rPr dirty="0">
                <a:highlight>
                  <a:srgbClr val="000000"/>
                </a:highlight>
              </a:rPr>
              <a:t> в </a:t>
            </a:r>
            <a:r>
              <a:rPr dirty="0" err="1">
                <a:highlight>
                  <a:srgbClr val="000000"/>
                </a:highlight>
              </a:rPr>
              <a:t>простое</a:t>
            </a:r>
            <a:r>
              <a:rPr dirty="0">
                <a:highlight>
                  <a:srgbClr val="000000"/>
                </a:highlight>
              </a:rPr>
              <a:t>  •  7 </a:t>
            </a:r>
            <a:r>
              <a:rPr dirty="0" err="1">
                <a:highlight>
                  <a:srgbClr val="000000"/>
                </a:highlight>
              </a:rPr>
              <a:t>тем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за</a:t>
            </a:r>
            <a:r>
              <a:rPr dirty="0">
                <a:highlight>
                  <a:srgbClr val="000000"/>
                </a:highlight>
              </a:rPr>
              <a:t> 20 </a:t>
            </a:r>
            <a:r>
              <a:rPr dirty="0" err="1">
                <a:highlight>
                  <a:srgbClr val="000000"/>
                </a:highlight>
              </a:rPr>
              <a:t>минут</a:t>
            </a:r>
            <a:endParaRPr dirty="0">
              <a:highlight>
                <a:srgbClr val="000000"/>
              </a:highligh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29739" y="4300875"/>
            <a:ext cx="108813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dirty="0">
                <a:solidFill>
                  <a:srgbClr val="FF0000"/>
                </a:solidFill>
                <a:latin typeface="Calibri"/>
              </a:rPr>
              <a:t>Git  •  GitHub / GitLab  •  </a:t>
            </a:r>
            <a:r>
              <a:rPr sz="3000" b="0" dirty="0" err="1">
                <a:solidFill>
                  <a:srgbClr val="FF0000"/>
                </a:solidFill>
                <a:latin typeface="Calibri"/>
              </a:rPr>
              <a:t>ветки</a:t>
            </a:r>
            <a:r>
              <a:rPr sz="3000" b="0" dirty="0">
                <a:solidFill>
                  <a:srgbClr val="FF0000"/>
                </a:solidFill>
                <a:latin typeface="Calibri"/>
              </a:rPr>
              <a:t>  •  PR  •  review  •  </a:t>
            </a:r>
            <a:r>
              <a:rPr sz="3000" b="0" dirty="0" err="1">
                <a:solidFill>
                  <a:srgbClr val="FF0000"/>
                </a:solidFill>
                <a:latin typeface="Calibri"/>
              </a:rPr>
              <a:t>конфликты</a:t>
            </a:r>
            <a:r>
              <a:rPr sz="3000" b="0" dirty="0">
                <a:solidFill>
                  <a:srgbClr val="FF0000"/>
                </a:solidFill>
                <a:latin typeface="Calibri"/>
              </a:rPr>
              <a:t>  •  ИИ-</a:t>
            </a:r>
            <a:r>
              <a:rPr sz="3000" b="0" dirty="0" err="1">
                <a:solidFill>
                  <a:srgbClr val="FF0000"/>
                </a:solidFill>
                <a:latin typeface="Calibri"/>
              </a:rPr>
              <a:t>деплой</a:t>
            </a:r>
            <a:endParaRPr sz="3000" b="0" dirty="0">
              <a:solidFill>
                <a:srgbClr val="FF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2853583" cy="1325563"/>
          </a:xfrm>
        </p:spPr>
        <p:txBody>
          <a:bodyPr/>
          <a:lstStyle/>
          <a:p>
            <a:pPr algn="l"/>
            <a:r>
              <a:rPr lang="en-US" sz="4000" b="1" dirty="0">
                <a:solidFill>
                  <a:srgbClr val="242852"/>
                </a:solidFill>
                <a:latin typeface="Calibri Light"/>
              </a:rPr>
              <a:t>PLAN</a:t>
            </a:r>
            <a:endParaRPr sz="4000" b="1" dirty="0">
              <a:solidFill>
                <a:srgbClr val="242852"/>
              </a:solidFill>
              <a:latin typeface="Calibri Ligh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02692" y="254995"/>
            <a:ext cx="8006697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4000" dirty="0">
                <a:solidFill>
                  <a:srgbClr val="333333"/>
                </a:solidFill>
                <a:latin typeface="Calibri"/>
              </a:rPr>
              <a:t>1. Git, GitHub, GitLab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4000" dirty="0">
                <a:solidFill>
                  <a:srgbClr val="333333"/>
                </a:solidFill>
                <a:latin typeface="Calibri"/>
              </a:rPr>
              <a:t>2. ИИ-</a:t>
            </a:r>
            <a:r>
              <a:rPr sz="4000" dirty="0" err="1">
                <a:solidFill>
                  <a:srgbClr val="333333"/>
                </a:solidFill>
                <a:latin typeface="Calibri"/>
              </a:rPr>
              <a:t>агенты</a:t>
            </a:r>
            <a:r>
              <a:rPr sz="4000" dirty="0">
                <a:solidFill>
                  <a:srgbClr val="333333"/>
                </a:solidFill>
                <a:latin typeface="Calibri"/>
              </a:rPr>
              <a:t> в </a:t>
            </a:r>
            <a:r>
              <a:rPr sz="4000" dirty="0" err="1">
                <a:solidFill>
                  <a:srgbClr val="333333"/>
                </a:solidFill>
                <a:latin typeface="Calibri"/>
              </a:rPr>
              <a:t>деплое</a:t>
            </a:r>
            <a:endParaRPr sz="4000" dirty="0">
              <a:solidFill>
                <a:srgbClr val="333333"/>
              </a:solidFill>
              <a:latin typeface="Calibri"/>
            </a:endParaRP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4000" dirty="0">
                <a:solidFill>
                  <a:srgbClr val="333333"/>
                </a:solidFill>
                <a:latin typeface="Calibri"/>
              </a:rPr>
              <a:t>3. </a:t>
            </a:r>
            <a:r>
              <a:rPr sz="4000" dirty="0" err="1">
                <a:solidFill>
                  <a:srgbClr val="333333"/>
                </a:solidFill>
                <a:latin typeface="Calibri"/>
              </a:rPr>
              <a:t>Ветки</a:t>
            </a:r>
            <a:r>
              <a:rPr sz="4000" dirty="0">
                <a:solidFill>
                  <a:srgbClr val="333333"/>
                </a:solidFill>
                <a:latin typeface="Calibri"/>
              </a:rPr>
              <a:t>: main </a:t>
            </a:r>
            <a:r>
              <a:rPr sz="4000" dirty="0" err="1">
                <a:solidFill>
                  <a:srgbClr val="333333"/>
                </a:solidFill>
                <a:latin typeface="Calibri"/>
              </a:rPr>
              <a:t>свят</a:t>
            </a:r>
            <a:endParaRPr sz="4000" dirty="0">
              <a:solidFill>
                <a:srgbClr val="333333"/>
              </a:solidFill>
              <a:latin typeface="Calibri"/>
            </a:endParaRP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4000" dirty="0">
                <a:solidFill>
                  <a:srgbClr val="333333"/>
                </a:solidFill>
                <a:latin typeface="Calibri"/>
              </a:rPr>
              <a:t>4. </a:t>
            </a:r>
            <a:r>
              <a:rPr sz="4000" dirty="0" err="1">
                <a:solidFill>
                  <a:srgbClr val="333333"/>
                </a:solidFill>
                <a:latin typeface="Calibri"/>
              </a:rPr>
              <a:t>Деплой</a:t>
            </a:r>
            <a:r>
              <a:rPr sz="4000" dirty="0">
                <a:solidFill>
                  <a:srgbClr val="333333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333333"/>
                </a:solidFill>
                <a:latin typeface="Calibri"/>
              </a:rPr>
              <a:t>фичи</a:t>
            </a:r>
            <a:r>
              <a:rPr sz="4000" dirty="0">
                <a:solidFill>
                  <a:srgbClr val="333333"/>
                </a:solidFill>
                <a:latin typeface="Calibri"/>
              </a:rPr>
              <a:t>: dev → prod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4000" dirty="0">
                <a:solidFill>
                  <a:srgbClr val="333333"/>
                </a:solidFill>
                <a:latin typeface="Calibri"/>
              </a:rPr>
              <a:t>5. Pull Request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4000" dirty="0">
                <a:solidFill>
                  <a:srgbClr val="333333"/>
                </a:solidFill>
                <a:latin typeface="Calibri"/>
              </a:rPr>
              <a:t>6. Code review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4000" dirty="0">
                <a:solidFill>
                  <a:srgbClr val="333333"/>
                </a:solidFill>
                <a:latin typeface="Calibri"/>
              </a:rPr>
              <a:t>7. Merge-</a:t>
            </a:r>
            <a:r>
              <a:rPr sz="4000" dirty="0" err="1">
                <a:solidFill>
                  <a:srgbClr val="333333"/>
                </a:solidFill>
                <a:latin typeface="Calibri"/>
              </a:rPr>
              <a:t>конфликты</a:t>
            </a:r>
            <a:endParaRPr sz="4000" dirty="0">
              <a:solidFill>
                <a:srgbClr val="333333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242852"/>
                </a:solidFill>
                <a:latin typeface="Calibri Light"/>
              </a:rPr>
              <a:t>Git = снапшоты, а не файлы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3383280" cy="1645920"/>
          </a:xfrm>
          <a:prstGeom prst="roundRect">
            <a:avLst/>
          </a:prstGeom>
          <a:solidFill>
            <a:srgbClr val="4A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commit</a:t>
            </a:r>
          </a:p>
          <a:p>
            <a:pPr algn="ctr"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точка сохранения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383280" cy="1645920"/>
          </a:xfrm>
          <a:prstGeom prst="roundRect">
            <a:avLst/>
          </a:prstGeom>
          <a:solidFill>
            <a:srgbClr val="5AA2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branch</a:t>
            </a:r>
          </a:p>
          <a:p>
            <a:pPr algn="ctr"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параллельная ветка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463040"/>
            <a:ext cx="3383280" cy="1645920"/>
          </a:xfrm>
          <a:prstGeom prst="roundRect">
            <a:avLst/>
          </a:prstGeom>
          <a:solidFill>
            <a:srgbClr val="24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merge</a:t>
            </a:r>
          </a:p>
          <a:p>
            <a:pPr algn="ctr"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склейка в main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56C9D3A-CF86-9AF8-941D-F02AE9B33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5285" y="3220159"/>
            <a:ext cx="5401429" cy="30865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242852"/>
                </a:solidFill>
                <a:latin typeface="Calibri Light"/>
              </a:rPr>
              <a:t>GitHub vs GitLab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5212080" cy="1371600"/>
          </a:xfrm>
          <a:prstGeom prst="roundRect">
            <a:avLst/>
          </a:prstGeom>
          <a:solidFill>
            <a:srgbClr val="24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GitHub</a:t>
            </a:r>
          </a:p>
          <a:p>
            <a:pPr algn="ctr"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стандарт +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5212080" cy="764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600" dirty="0">
                <a:solidFill>
                  <a:srgbClr val="333333"/>
                </a:solidFill>
                <a:latin typeface="Calibri"/>
              </a:rPr>
              <a:t>Actions, PR, </a:t>
            </a:r>
            <a:r>
              <a:rPr sz="1600" dirty="0" err="1">
                <a:solidFill>
                  <a:srgbClr val="333333"/>
                </a:solidFill>
                <a:latin typeface="Calibri"/>
              </a:rPr>
              <a:t>Codespaces</a:t>
            </a:r>
            <a:endParaRPr sz="1600" dirty="0">
              <a:solidFill>
                <a:srgbClr val="333333"/>
              </a:solidFill>
              <a:latin typeface="Calibri"/>
            </a:endParaRP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600" dirty="0" err="1">
                <a:solidFill>
                  <a:srgbClr val="333333"/>
                </a:solidFill>
                <a:latin typeface="Calibri"/>
              </a:rPr>
              <a:t>сообщество</a:t>
            </a:r>
            <a:r>
              <a:rPr sz="1600" dirty="0">
                <a:solidFill>
                  <a:srgbClr val="333333"/>
                </a:solidFill>
                <a:latin typeface="Calibri"/>
              </a:rPr>
              <a:t>, open source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6960" y="1448085"/>
            <a:ext cx="5212080" cy="1371600"/>
          </a:xfrm>
          <a:prstGeom prst="roundRect">
            <a:avLst/>
          </a:prstGeom>
          <a:solidFill>
            <a:srgbClr val="297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GitLab</a:t>
            </a:r>
          </a:p>
          <a:p>
            <a:pPr algn="ctr"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всё в одном + 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1720" y="3002565"/>
            <a:ext cx="5212080" cy="764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600" dirty="0" err="1">
                <a:solidFill>
                  <a:srgbClr val="333333"/>
                </a:solidFill>
                <a:latin typeface="Calibri"/>
              </a:rPr>
              <a:t>встроенный</a:t>
            </a:r>
            <a:r>
              <a:rPr sz="1600" dirty="0">
                <a:solidFill>
                  <a:srgbClr val="333333"/>
                </a:solidFill>
                <a:latin typeface="Calibri"/>
              </a:rPr>
              <a:t> CI/CD, MR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600" dirty="0">
                <a:solidFill>
                  <a:srgbClr val="333333"/>
                </a:solidFill>
                <a:latin typeface="Calibri"/>
              </a:rPr>
              <a:t> self-hosted </a:t>
            </a:r>
            <a:r>
              <a:rPr sz="1600" dirty="0" err="1">
                <a:solidFill>
                  <a:srgbClr val="333333"/>
                </a:solidFill>
                <a:latin typeface="Calibri"/>
              </a:rPr>
              <a:t>из</a:t>
            </a:r>
            <a:r>
              <a:rPr sz="1600" dirty="0">
                <a:solidFill>
                  <a:srgbClr val="333333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33333"/>
                </a:solidFill>
                <a:latin typeface="Calibri"/>
              </a:rPr>
              <a:t>коробки</a:t>
            </a:r>
            <a:endParaRPr sz="1600" dirty="0">
              <a:solidFill>
                <a:srgbClr val="333333"/>
              </a:solidFill>
              <a:latin typeface="Calibri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2A1F700-5B66-135F-45CD-64BD6B92D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23" y="4417662"/>
            <a:ext cx="11240368" cy="18942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23714-E4FD-11EC-BCBD-78ADC5F13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39939-4067-235C-2A13-A2207BAEF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b="1" dirty="0">
                <a:solidFill>
                  <a:srgbClr val="242852"/>
                </a:solidFill>
                <a:latin typeface="Calibri Light"/>
              </a:rPr>
              <a:t>Git ignores?</a:t>
            </a:r>
            <a:endParaRPr sz="4000" b="1" dirty="0">
              <a:solidFill>
                <a:srgbClr val="242852"/>
              </a:solidFill>
              <a:latin typeface="Calibri Light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8585809-3BEA-F4B6-EE4B-00995EAF2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343" y="1561429"/>
            <a:ext cx="8253752" cy="463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181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BC569-D012-3230-D8CF-AA5D8B493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D2240-81CE-AE64-8172-A15114304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b="1">
                <a:solidFill>
                  <a:srgbClr val="242852"/>
                </a:solidFill>
                <a:latin typeface="Calibri Light"/>
              </a:rPr>
              <a:t>Git ignores</a:t>
            </a:r>
            <a:endParaRPr sz="4000" b="1" dirty="0">
              <a:solidFill>
                <a:srgbClr val="242852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584552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242852"/>
                </a:solidFill>
                <a:latin typeface="Calibri Light"/>
              </a:rPr>
              <a:t>ИИ-агенты деплоят сами?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2560320" cy="1737360"/>
          </a:xfrm>
          <a:prstGeom prst="roundRect">
            <a:avLst/>
          </a:prstGeom>
          <a:solidFill>
            <a:srgbClr val="4A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Код</a:t>
            </a:r>
          </a:p>
          <a:p>
            <a:pPr algn="ctr">
              <a:spcBef>
                <a:spcPts val="8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пишет фичу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463040"/>
            <a:ext cx="2560320" cy="1737360"/>
          </a:xfrm>
          <a:prstGeom prst="roundRect">
            <a:avLst/>
          </a:prstGeom>
          <a:solidFill>
            <a:srgbClr val="5AA2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Тест</a:t>
            </a:r>
          </a:p>
          <a:p>
            <a:pPr algn="ctr">
              <a:spcBef>
                <a:spcPts val="8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гоняет тесты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2560320" cy="1737360"/>
          </a:xfrm>
          <a:prstGeom prst="roundRect">
            <a:avLst/>
          </a:prstGeom>
          <a:solidFill>
            <a:srgbClr val="297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Деплой</a:t>
            </a:r>
          </a:p>
          <a:p>
            <a:pPr algn="ctr">
              <a:spcBef>
                <a:spcPts val="8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катит на stage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1463040"/>
            <a:ext cx="2560320" cy="1737360"/>
          </a:xfrm>
          <a:prstGeom prst="roundRect">
            <a:avLst/>
          </a:prstGeom>
          <a:solidFill>
            <a:srgbClr val="24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Откат</a:t>
            </a:r>
          </a:p>
          <a:p>
            <a:pPr algn="ctr">
              <a:spcBef>
                <a:spcPts val="8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отменяет при аварии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566160"/>
            <a:ext cx="10881360" cy="2468880"/>
          </a:xfrm>
          <a:prstGeom prst="roundRect">
            <a:avLst/>
          </a:prstGeom>
          <a:solidFill>
            <a:srgbClr val="E8EDF4"/>
          </a:solidFill>
          <a:ln w="25400">
            <a:solidFill>
              <a:srgbClr val="7F8F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242852"/>
                </a:solidFill>
                <a:latin typeface="Calibri"/>
              </a:rPr>
              <a:t>СКРИНШОТ 3  →  лог ИИ-агента: сгенерировал PR + прошёл CI (см. Ш3)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242852"/>
                </a:solidFill>
                <a:latin typeface="Calibri Light"/>
              </a:rPr>
              <a:t>Агент: план → код → прод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2411730" cy="1737360"/>
          </a:xfrm>
          <a:prstGeom prst="roundRect">
            <a:avLst/>
          </a:prstGeom>
          <a:solidFill>
            <a:srgbClr val="4A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1. План</a:t>
            </a:r>
          </a:p>
          <a:p>
            <a:pPr algn="ctr">
              <a:spcBef>
                <a:spcPts val="8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читает issue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033522" y="2468880"/>
            <a:ext cx="457200" cy="457200"/>
          </a:xfrm>
          <a:prstGeom prst="rightArrow">
            <a:avLst/>
          </a:prstGeom>
          <a:solidFill>
            <a:srgbClr val="24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463290" y="1828800"/>
            <a:ext cx="2411730" cy="1737360"/>
          </a:xfrm>
          <a:prstGeom prst="roundRect">
            <a:avLst/>
          </a:prstGeom>
          <a:solidFill>
            <a:srgbClr val="629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2. Код</a:t>
            </a:r>
          </a:p>
          <a:p>
            <a:pPr algn="ctr">
              <a:spcBef>
                <a:spcPts val="8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меняет ветку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856732" y="2468880"/>
            <a:ext cx="457200" cy="457200"/>
          </a:xfrm>
          <a:prstGeom prst="rightArrow">
            <a:avLst/>
          </a:prstGeom>
          <a:solidFill>
            <a:srgbClr val="24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86500" y="1828800"/>
            <a:ext cx="2411730" cy="1737360"/>
          </a:xfrm>
          <a:prstGeom prst="roundRect">
            <a:avLst/>
          </a:prstGeom>
          <a:solidFill>
            <a:srgbClr val="5AA2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3. Проверка</a:t>
            </a:r>
          </a:p>
          <a:p>
            <a:pPr algn="ctr">
              <a:spcBef>
                <a:spcPts val="8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тесты + review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679942" y="2468880"/>
            <a:ext cx="457200" cy="457200"/>
          </a:xfrm>
          <a:prstGeom prst="rightArrow">
            <a:avLst/>
          </a:prstGeom>
          <a:solidFill>
            <a:srgbClr val="24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09710" y="1828800"/>
            <a:ext cx="2411730" cy="1737360"/>
          </a:xfrm>
          <a:prstGeom prst="roundRect">
            <a:avLst/>
          </a:prstGeom>
          <a:solidFill>
            <a:srgbClr val="297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4. Деплой</a:t>
            </a:r>
          </a:p>
          <a:p>
            <a:pPr algn="ctr">
              <a:spcBef>
                <a:spcPts val="8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только в stage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42852"/>
                </a:solidFill>
                <a:latin typeface="Calibri"/>
              </a:rPr>
              <a:t>человек жмёт кнопку в прод  •  агент готовит, не решает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937760"/>
            <a:ext cx="10881360" cy="1097280"/>
          </a:xfrm>
          <a:prstGeom prst="roundRect">
            <a:avLst/>
          </a:prstGeom>
          <a:solidFill>
            <a:srgbClr val="E8EDF4"/>
          </a:solidFill>
          <a:ln w="25400">
            <a:solidFill>
              <a:srgbClr val="7F8F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242852"/>
                </a:solidFill>
                <a:latin typeface="Calibri"/>
              </a:rPr>
              <a:t>СХЕМА: стрелки уже на слайде — скриншот не нужен, можно живьём показать агента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242852"/>
                </a:solidFill>
                <a:latin typeface="Calibri Light"/>
              </a:rPr>
              <a:t>main — священен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3383280" cy="1554480"/>
          </a:xfrm>
          <a:prstGeom prst="roundRect">
            <a:avLst/>
          </a:prstGeom>
          <a:solidFill>
            <a:srgbClr val="24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main</a:t>
            </a:r>
          </a:p>
          <a:p>
            <a:pPr algn="ctr"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всегда работает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383280" cy="1554480"/>
          </a:xfrm>
          <a:prstGeom prst="roundRect">
            <a:avLst/>
          </a:prstGeom>
          <a:solidFill>
            <a:srgbClr val="5AA2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feature/*</a:t>
            </a:r>
          </a:p>
          <a:p>
            <a:pPr algn="ctr"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новая фича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463040"/>
            <a:ext cx="3383280" cy="1554480"/>
          </a:xfrm>
          <a:prstGeom prst="roundRect">
            <a:avLst/>
          </a:prstGeom>
          <a:solidFill>
            <a:srgbClr val="297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hotfix/*</a:t>
            </a:r>
          </a:p>
          <a:p>
            <a:pPr algn="ctr"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срочный фикс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383280"/>
            <a:ext cx="10881360" cy="2651760"/>
          </a:xfrm>
          <a:prstGeom prst="roundRect">
            <a:avLst/>
          </a:prstGeom>
          <a:solidFill>
            <a:srgbClr val="E8EDF4"/>
          </a:solidFill>
          <a:ln w="25400">
            <a:solidFill>
              <a:srgbClr val="7F8F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242852"/>
                </a:solidFill>
                <a:latin typeface="Calibri"/>
              </a:rPr>
              <a:t>СКРИНШОТ 4  →  граф веток: main + 2 feature + hotfix (см. Ш4)</a:t>
            </a:r>
            <a:br/>
            <a:r>
              <a:t>команды: git branch / git switch -c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242852"/>
                </a:solidFill>
                <a:latin typeface="Calibri Light"/>
              </a:rPr>
              <a:t>200 заработать, 500 потерять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5212080" cy="2194560"/>
          </a:xfrm>
          <a:prstGeom prst="roundRect">
            <a:avLst/>
          </a:prstGeom>
          <a:solidFill>
            <a:srgbClr val="7F8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−500 простой</a:t>
            </a:r>
          </a:p>
          <a:p>
            <a:pPr algn="ctr">
              <a:spcBef>
                <a:spcPts val="8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деплой в лоб, все стоят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554480"/>
            <a:ext cx="5212080" cy="2194560"/>
          </a:xfrm>
          <a:prstGeom prst="roundRect">
            <a:avLst/>
          </a:prstGeom>
          <a:solidFill>
            <a:srgbClr val="5AA2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+200 ветки</a:t>
            </a:r>
          </a:p>
          <a:p>
            <a:pPr algn="ctr">
              <a:spcBef>
                <a:spcPts val="8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hotfix без остановки прода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42852"/>
                </a:solidFill>
                <a:latin typeface="Calibri"/>
              </a:rPr>
              <a:t>вынужденный простой дороже быстрой победы  •  чини веткой, а не паникой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F8FA9"/>
                </a:solidFill>
                <a:latin typeface="Calibri"/>
              </a:rPr>
              <a:t>цифры условные — для запоминания экономики простоя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242852"/>
                </a:solidFill>
                <a:latin typeface="Calibri Light"/>
              </a:rPr>
              <a:t>Путь фичи: идея → прод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1470660" cy="1737360"/>
          </a:xfrm>
          <a:prstGeom prst="roundRect">
            <a:avLst/>
          </a:prstGeom>
          <a:solidFill>
            <a:srgbClr val="24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Идея</a:t>
            </a:r>
          </a:p>
          <a:p>
            <a:pPr algn="ctr">
              <a:spcBef>
                <a:spcPts val="8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issue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092452" y="2194560"/>
            <a:ext cx="457200" cy="457200"/>
          </a:xfrm>
          <a:prstGeom prst="rightArrow">
            <a:avLst/>
          </a:prstGeom>
          <a:solidFill>
            <a:srgbClr val="24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522220" y="1554480"/>
            <a:ext cx="1470660" cy="1737360"/>
          </a:xfrm>
          <a:prstGeom prst="roundRect">
            <a:avLst/>
          </a:prstGeom>
          <a:solidFill>
            <a:srgbClr val="4A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Ветка</a:t>
            </a:r>
          </a:p>
          <a:p>
            <a:pPr algn="ctr">
              <a:spcBef>
                <a:spcPts val="8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feature/*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974592" y="2194560"/>
            <a:ext cx="457200" cy="457200"/>
          </a:xfrm>
          <a:prstGeom prst="rightArrow">
            <a:avLst/>
          </a:prstGeom>
          <a:solidFill>
            <a:srgbClr val="24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404360" y="1554480"/>
            <a:ext cx="1470660" cy="1737360"/>
          </a:xfrm>
          <a:prstGeom prst="roundRect">
            <a:avLst/>
          </a:prstGeom>
          <a:solidFill>
            <a:srgbClr val="5AA2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Код</a:t>
            </a:r>
          </a:p>
          <a:p>
            <a:pPr algn="ctr">
              <a:spcBef>
                <a:spcPts val="8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commit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56732" y="2194560"/>
            <a:ext cx="457200" cy="457200"/>
          </a:xfrm>
          <a:prstGeom prst="rightArrow">
            <a:avLst/>
          </a:prstGeom>
          <a:solidFill>
            <a:srgbClr val="24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86500" y="1554480"/>
            <a:ext cx="1470660" cy="1737360"/>
          </a:xfrm>
          <a:prstGeom prst="roundRect">
            <a:avLst/>
          </a:prstGeom>
          <a:solidFill>
            <a:srgbClr val="297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PR</a:t>
            </a:r>
          </a:p>
          <a:p>
            <a:pPr algn="ctr">
              <a:spcBef>
                <a:spcPts val="8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738872" y="2194560"/>
            <a:ext cx="457200" cy="457200"/>
          </a:xfrm>
          <a:prstGeom prst="rightArrow">
            <a:avLst/>
          </a:prstGeom>
          <a:solidFill>
            <a:srgbClr val="24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168640" y="1554480"/>
            <a:ext cx="1470660" cy="1737360"/>
          </a:xfrm>
          <a:prstGeom prst="roundRect">
            <a:avLst/>
          </a:prstGeom>
          <a:solidFill>
            <a:srgbClr val="629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Stage</a:t>
            </a:r>
          </a:p>
          <a:p>
            <a:pPr algn="ctr">
              <a:spcBef>
                <a:spcPts val="8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проверка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621012" y="2194560"/>
            <a:ext cx="457200" cy="457200"/>
          </a:xfrm>
          <a:prstGeom prst="rightArrow">
            <a:avLst/>
          </a:prstGeom>
          <a:solidFill>
            <a:srgbClr val="24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50780" y="1554480"/>
            <a:ext cx="1470660" cy="1737360"/>
          </a:xfrm>
          <a:prstGeom prst="roundRect">
            <a:avLst/>
          </a:prstGeom>
          <a:solidFill>
            <a:srgbClr val="24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Прод</a:t>
            </a:r>
          </a:p>
          <a:p>
            <a:pPr algn="ctr">
              <a:spcBef>
                <a:spcPts val="8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merge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39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42852"/>
                </a:solidFill>
                <a:latin typeface="Calibri"/>
              </a:rPr>
              <a:t>ни один шаг не пропускаем  •  каждый шаг виден в GitHub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663440"/>
            <a:ext cx="10881360" cy="1371600"/>
          </a:xfrm>
          <a:prstGeom prst="roundRect">
            <a:avLst/>
          </a:prstGeom>
          <a:solidFill>
            <a:srgbClr val="E8EDF4"/>
          </a:solidFill>
          <a:ln w="25400">
            <a:solidFill>
              <a:srgbClr val="7F8F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242852"/>
                </a:solidFill>
                <a:latin typeface="Calibri"/>
              </a:rPr>
              <a:t>СКРИНШОТ 5  →  доска Issues: To Do → In Progress → Done (см. Ш5)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242852"/>
                </a:solidFill>
                <a:latin typeface="Calibri Light"/>
              </a:rPr>
              <a:t>dev → stage → prod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3383280" cy="1828800"/>
          </a:xfrm>
          <a:prstGeom prst="roundRect">
            <a:avLst/>
          </a:prstGeom>
          <a:solidFill>
            <a:srgbClr val="7F8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dev</a:t>
            </a:r>
          </a:p>
          <a:p>
            <a:pPr algn="ctr"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ломать можно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383280" cy="1828800"/>
          </a:xfrm>
          <a:prstGeom prst="roundRect">
            <a:avLst/>
          </a:prstGeom>
          <a:solidFill>
            <a:srgbClr val="5AA2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stage</a:t>
            </a:r>
          </a:p>
          <a:p>
            <a:pPr algn="ctr"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как прод, но не прод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463040"/>
            <a:ext cx="3383280" cy="1828800"/>
          </a:xfrm>
          <a:prstGeom prst="roundRect">
            <a:avLst/>
          </a:prstGeom>
          <a:solidFill>
            <a:srgbClr val="24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prod</a:t>
            </a:r>
          </a:p>
          <a:p>
            <a:pPr algn="ctr"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трогаем осторожно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657600"/>
            <a:ext cx="10881360" cy="2377440"/>
          </a:xfrm>
          <a:prstGeom prst="roundRect">
            <a:avLst/>
          </a:prstGeom>
          <a:solidFill>
            <a:srgbClr val="E8EDF4"/>
          </a:solidFill>
          <a:ln w="25400">
            <a:solidFill>
              <a:srgbClr val="7F8F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242852"/>
                </a:solidFill>
                <a:latin typeface="Calibri"/>
              </a:rPr>
              <a:t>СКРИНШОТ 6  →  pipeline: зелёные галочки dev → stage → prod (Actions / GitLab CI, см. Ш6)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242852"/>
                </a:solidFill>
                <a:latin typeface="Calibri Light"/>
              </a:rPr>
              <a:t>Pull Request = ворота в main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2411730" cy="1737360"/>
          </a:xfrm>
          <a:prstGeom prst="roundRect">
            <a:avLst/>
          </a:prstGeom>
          <a:solidFill>
            <a:srgbClr val="4A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Создай</a:t>
            </a:r>
          </a:p>
          <a:p>
            <a:pPr algn="ctr">
              <a:spcBef>
                <a:spcPts val="8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push ветки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033522" y="2194560"/>
            <a:ext cx="457200" cy="457200"/>
          </a:xfrm>
          <a:prstGeom prst="rightArrow">
            <a:avLst/>
          </a:prstGeom>
          <a:solidFill>
            <a:srgbClr val="24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463290" y="1554480"/>
            <a:ext cx="2411730" cy="1737360"/>
          </a:xfrm>
          <a:prstGeom prst="roundRect">
            <a:avLst/>
          </a:prstGeom>
          <a:solidFill>
            <a:srgbClr val="5AA2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Проверки</a:t>
            </a:r>
          </a:p>
          <a:p>
            <a:pPr algn="ctr">
              <a:spcBef>
                <a:spcPts val="8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CI зелёный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856732" y="2194560"/>
            <a:ext cx="457200" cy="457200"/>
          </a:xfrm>
          <a:prstGeom prst="rightArrow">
            <a:avLst/>
          </a:prstGeom>
          <a:solidFill>
            <a:srgbClr val="24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86500" y="1554480"/>
            <a:ext cx="2411730" cy="1737360"/>
          </a:xfrm>
          <a:prstGeom prst="roundRect">
            <a:avLst/>
          </a:prstGeom>
          <a:solidFill>
            <a:srgbClr val="297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Обсуди</a:t>
            </a:r>
          </a:p>
          <a:p>
            <a:pPr algn="ctr">
              <a:spcBef>
                <a:spcPts val="8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679942" y="2194560"/>
            <a:ext cx="457200" cy="457200"/>
          </a:xfrm>
          <a:prstGeom prst="rightArrow">
            <a:avLst/>
          </a:prstGeom>
          <a:solidFill>
            <a:srgbClr val="24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09710" y="1554480"/>
            <a:ext cx="2411730" cy="1737360"/>
          </a:xfrm>
          <a:prstGeom prst="roundRect">
            <a:avLst/>
          </a:prstGeom>
          <a:solidFill>
            <a:srgbClr val="24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Влей</a:t>
            </a:r>
          </a:p>
          <a:p>
            <a:pPr algn="ctr">
              <a:spcBef>
                <a:spcPts val="8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merge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49039"/>
            <a:ext cx="10881360" cy="2286000"/>
          </a:xfrm>
          <a:prstGeom prst="roundRect">
            <a:avLst/>
          </a:prstGeom>
          <a:solidFill>
            <a:srgbClr val="E8EDF4"/>
          </a:solidFill>
          <a:ln w="25400">
            <a:solidFill>
              <a:srgbClr val="7F8F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242852"/>
                </a:solidFill>
                <a:latin typeface="Calibri"/>
              </a:rPr>
              <a:t>СКРИНШОТ 7  →  страница PR: diff + Checks + кнопка Merge (см. Ш7)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242852"/>
                </a:solidFill>
                <a:latin typeface="Calibri Light"/>
              </a:rPr>
              <a:t>Review: найди баг до прода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✓ Логика и крайние случаи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✓ Тесты и читаемость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✓ Без секретов в коде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✋ Тон: к коду, не к человеку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463040"/>
            <a:ext cx="5212080" cy="3108960"/>
          </a:xfrm>
          <a:prstGeom prst="roundRect">
            <a:avLst/>
          </a:prstGeom>
          <a:solidFill>
            <a:srgbClr val="E8EDF4"/>
          </a:solidFill>
          <a:ln w="25400">
            <a:solidFill>
              <a:srgbClr val="7F8F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242852"/>
                </a:solidFill>
                <a:latin typeface="Calibri"/>
              </a:rPr>
              <a:t>СКРИНШОТ 8  →  комментарий ревью: suggestion + Approve (см. Ш8)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846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42852"/>
                </a:solidFill>
                <a:latin typeface="Calibri"/>
              </a:rPr>
              <a:t>маленький PR ревьювят за 15 минут  •  большой — никогда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242852"/>
                </a:solidFill>
                <a:latin typeface="Calibri Light"/>
              </a:rPr>
              <a:t>Конфликт: два правят одно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3383280" cy="1645920"/>
          </a:xfrm>
          <a:prstGeom prst="roundRect">
            <a:avLst/>
          </a:prstGeom>
          <a:solidFill>
            <a:srgbClr val="4A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1. pull</a:t>
            </a:r>
          </a:p>
          <a:p>
            <a:pPr algn="ctr"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забери чужое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383280" cy="1645920"/>
          </a:xfrm>
          <a:prstGeom prst="roundRect">
            <a:avLst/>
          </a:prstGeom>
          <a:solidFill>
            <a:srgbClr val="297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2. resolve</a:t>
            </a:r>
          </a:p>
          <a:p>
            <a:pPr algn="ctr"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выбери правду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463040"/>
            <a:ext cx="3383280" cy="1645920"/>
          </a:xfrm>
          <a:prstGeom prst="roundRect">
            <a:avLst/>
          </a:prstGeom>
          <a:solidFill>
            <a:srgbClr val="24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3. push</a:t>
            </a:r>
          </a:p>
          <a:p>
            <a:pPr algn="ctr"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отправь мир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474720"/>
            <a:ext cx="10881360" cy="2560320"/>
          </a:xfrm>
          <a:prstGeom prst="roundRect">
            <a:avLst/>
          </a:prstGeom>
          <a:solidFill>
            <a:srgbClr val="E8EDF4"/>
          </a:solidFill>
          <a:ln w="25400">
            <a:solidFill>
              <a:srgbClr val="7F8F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242852"/>
                </a:solidFill>
                <a:latin typeface="Calibri"/>
              </a:rPr>
              <a:t>СКРИНШОТ 9  →  маркеры &lt;&lt;&lt;&lt;&lt;&lt;&lt; HEAD … ======= … &gt;&gt;&gt;&gt;&gt;&gt;&gt; + кнопка Resolve (см. Ш9)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242852"/>
                </a:solidFill>
                <a:latin typeface="Calibri Light"/>
              </a:rPr>
              <a:t>5 правил выживания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2400">
                <a:solidFill>
                  <a:srgbClr val="333333"/>
                </a:solidFill>
                <a:latin typeface="Calibri"/>
              </a:rPr>
              <a:t>1. main не ломаем — работаем в ветках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2400">
                <a:solidFill>
                  <a:srgbClr val="333333"/>
                </a:solidFill>
                <a:latin typeface="Calibri"/>
              </a:rPr>
              <a:t>2. Маленький PR &gt; большой подвиг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2400">
                <a:solidFill>
                  <a:srgbClr val="333333"/>
                </a:solidFill>
                <a:latin typeface="Calibri"/>
              </a:rPr>
              <a:t>3. Зелёный CI + review = merge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2400">
                <a:solidFill>
                  <a:srgbClr val="333333"/>
                </a:solidFill>
                <a:latin typeface="Calibri"/>
              </a:rPr>
              <a:t>4. Конфликт? Говорим, потом кликаем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2400">
                <a:solidFill>
                  <a:srgbClr val="333333"/>
                </a:solidFill>
                <a:latin typeface="Calibri"/>
              </a:rPr>
              <a:t>5. Агент готовит — человек отвечает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Спасибо! Вопросы?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Демо: ветка → PR → merge за 3 минуты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7F8FA9"/>
                </a:solidFill>
                <a:latin typeface="Calibri"/>
              </a:rPr>
              <a:t>repo: github.com/&lt;твой-ник&gt;/&lt;проект&gt;  •  &lt;имя&gt;  •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плый синий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1042</Words>
  <Application>Microsoft Office PowerPoint</Application>
  <PresentationFormat>Широкоэкранный</PresentationFormat>
  <Paragraphs>139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Тема Office</vt:lpstr>
      <vt:lpstr>Git</vt:lpstr>
      <vt:lpstr>PLAN</vt:lpstr>
      <vt:lpstr>Git = снапшоты, а не файлы</vt:lpstr>
      <vt:lpstr>GitHub vs GitLab</vt:lpstr>
      <vt:lpstr>Git ignores?</vt:lpstr>
      <vt:lpstr>Git ignores</vt:lpstr>
      <vt:lpstr>ИИ-агенты деплоят сами?</vt:lpstr>
      <vt:lpstr>Агент: план → код → прод</vt:lpstr>
      <vt:lpstr>main — священен</vt:lpstr>
      <vt:lpstr>200 заработать, 500 потерять</vt:lpstr>
      <vt:lpstr>Путь фичи: идея → прод</vt:lpstr>
      <vt:lpstr>dev → stage → prod</vt:lpstr>
      <vt:lpstr>Pull Request = ворота в main</vt:lpstr>
      <vt:lpstr>Review: найди баг до прода</vt:lpstr>
      <vt:lpstr>Конфликт: два правят одно</vt:lpstr>
      <vt:lpstr>5 правил выживания</vt:lpstr>
      <vt:lpstr>Спасибо! Вопросы?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 Obstinate</dc:creator>
  <cp:lastModifiedBy>Никита Гулевич</cp:lastModifiedBy>
  <cp:revision>10</cp:revision>
  <dcterms:created xsi:type="dcterms:W3CDTF">2021-12-06T03:54:55Z</dcterms:created>
  <dcterms:modified xsi:type="dcterms:W3CDTF">2026-09-17T18:05:48Z</dcterms:modified>
</cp:coreProperties>
</file>