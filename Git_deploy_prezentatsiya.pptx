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notesSlides/notesSlide12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92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58.09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265 1188 24575,'44'2'0,"0"1"0,0 2 0,43 12 0,127 41 0,-7-1 0,-157-46 0,28 8 0,1-3 0,1-4 0,113 4 0,379-18 0,-553 1 0,0-1 0,0 0 0,0-1 0,0-1 0,-1-1 0,1 0 0,-1-2 0,0 0 0,-1-1 0,0-1 0,0 0 0,-1-1 0,0-1 0,-1-1 0,18-16 0,0-1 0,-19 19 0,-1-2 0,0 1 0,-1-2 0,0 0 0,-1 0 0,0-1 0,-1 0 0,-1-1 0,14-29 0,46-131 0,-65 161 0,0 0 0,-2-1 0,1 0 0,-2 1 0,0-1 0,-1 0 0,0 0 0,-1 0 0,-1 1 0,-5-20 0,-3-6 0,-1 1 0,-26-56 0,31 83 0,-1 0 0,0 0 0,-1 0 0,-11-12 0,12 16 0,-1-1 0,2-1 0,-1 1 0,1-1 0,1-1 0,0 1 0,-5-14 0,8 16 0,-2 1 0,1-1 0,-1 0 0,0 1 0,0 0 0,-1 0 0,0 0 0,0 0 0,-1 1 0,0 0 0,0 0 0,-1 0 0,1 1 0,-1 0 0,0 1 0,-10-6 0,-14-5 0,0 2 0,-61-18 0,-11-4 0,71 23 0,-2 2 0,1 1 0,-1 2 0,-62-5 0,-5-2 0,63 6 0,0-3 0,-50-21 0,-41-11 0,93 37 0,0 2 0,0 1 0,-1 2 0,-53 4 0,0 0 0,-77-15 0,2-1 0,-269 14 0,426-1 0,-1 0 0,1 1 0,-1 0 0,1 0 0,0 1 0,-1 0 0,1 0 0,0 1 0,0 0 0,1 0 0,-1 1 0,1 0 0,-1 0 0,1 1 0,1 0 0,-1 0 0,1 1 0,0 0 0,0 0 0,0 0 0,1 1 0,-8 12 0,3-2 0,-8 15 0,-17 41 0,30-60 0,1 0 0,0 0 0,1 1 0,0-1 0,1 1 0,-1 22 0,3-13 0,0 25 0,5 49 0,-3-81 0,0 0 0,2-1 0,0 0 0,0 1 0,1-2 0,1 1 0,9 15 0,8 14 0,-15-27 0,1 0 0,1-1 0,0 0 0,23 27 0,-2-4 0,-26-31 0,1 0 0,1 0 0,-1-1 0,1 1 0,12 8 0,73 74 0,-79-78-242,-1 2 0,0-1 0,13 21 0,-22-30-155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42.65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1 928 24575,'1'-33'0,"1"-1"0,2 1 0,1 0 0,1 0 0,3 0 0,0 1 0,2 1 0,1-1 0,2 2 0,1 0 0,26-40 0,-19 42 0,1 2 0,30-28 0,-38 40 0,11-12 0,1 2 0,1 1 0,1 1 0,43-23 0,-42 30 0,0 1 0,1 1 0,46-12 0,-49 15 0,52-27 0,-65 28 0,1 1 0,0 1 0,0 0 0,1 1 0,-1 1 0,1 1 0,0 0 0,1 1 0,17-1 0,-5 2 0,0-1 0,0-2 0,31-8 0,-31 6 0,-1 1 0,1 1 0,36 0 0,-26 3 0,44-8 0,33-1 0,614 10 0,-351 2 0,-350 1 0,58 10 0,-16 0 0,-7-4 0,-9-1 0,65 1 0,-80-6 0,0 2 0,-1 2 0,78 22 0,-30-7 0,-37-9 0,13 1 0,-1 3 0,82 32 0,-111-31 0,0 1 0,56 41 0,-55-34 0,66 34 0,-31-18 0,-54-30 0,1 0 0,0-2 0,33 14 0,25 12 0,-38-17 0,-25-12-151,-1 0-1,1 1 0,-1 0 0,0 0 1,-1 1-1,1 1 0,-2 0 1,10 10-1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49.70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245 1836 24575,'53'-2'0,"0"-2"0,82-17 0,100-37 0,-9 1 0,203-18 0,-314 54 0,-2-4 0,198-72 0,-227 68 0,-15 7 0,103-40 0,-131 46 0,-30 13 0,0-1 0,0 0 0,0-1 0,0 0 0,-1-1 0,0 0 0,0-1 0,-1 0 0,1 0 0,-2-1 0,1 0 0,-1 0 0,13-18 0,-4-2 0,-1-1 0,-2 0 0,-1-2 0,13-42 0,17-34 0,-31 83 0,-2-1 0,0 0 0,-2-1 0,9-40 0,-16 58 0,-1 0 0,1 1 0,-1-1 0,-1 0 0,1 0 0,-1 1 0,-1-1 0,1 0 0,-1 1 0,0-1 0,-1 1 0,0 0 0,0-1 0,-1 2 0,0-1 0,0 0 0,0 1 0,-1-1 0,0 1 0,-6-5 0,-102-93 0,-5 5 0,-150-96 0,183 134 0,-138-84 0,217 142 0,0 0 0,0 0 0,0 1 0,-1 0 0,1 0 0,-1 1 0,0 0 0,1 0 0,-10 0 0,-67 5 0,28 0 0,-23-1 0,-128 22 0,38-4 0,-34 7 0,186-25 0,-56 11 0,-74 25 0,-56 39 0,99-35 0,91-37 0,1 0 0,0 1 0,0 1 0,0-1 0,1 2 0,0 0 0,0 0 0,-7 11 0,-7 8 0,-33 51 0,41-51 0,2 1 0,0 0 0,2 1 0,-9 37 0,20-65 0,-16 54 0,4-12 0,-23 52 0,31-83 0,1-1 0,0 1 0,1 0 0,0 0 0,1 0 0,0 0 0,1 0 0,1 0 0,0 1 0,1-1 0,0 0 0,1 0 0,0 0 0,1 0 0,8 22 0,8 12 0,2-1 0,50 81 0,-11-22 0,-39-64 0,39 82 0,-58-118-170,0 0-1,1 0 0,0 0 1,0-1-1,0 1 0,0-1 1,7 7-1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588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Приветствие 1 мин: кто я, о чём доклад, обещание — в конце чек-лист из 5 правил и живое демо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1 мин: перечисляю 7 тем, говорю что на каждом слайде минимум текста, детали рассказываю голосом.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Git 2 мин: снапшоты, commit/branch/merge, локально всё, удалённый репозиторий — страховка. Показать скрин git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343C-D86B-DCA6-E184-BBE76FC6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207A8-CAC8-6A16-2932-FB1039891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E80E6-A537-6B42-7F68-405BD97013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5F07A-3B7F-D213-D972-6B580FBAFE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9324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A68E7-2457-B4B6-FA92-DF0CF58D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A112A-9931-DEC5-28A1-552DF6068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D0A6C-2649-EBD9-08AF-E2A03CFB1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D585C-33F1-9FE5-6223-C63A94599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9313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EC4E-D60C-CC32-A613-6F1766541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3C867-5BF3-6555-76CD-FF368DC16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9D238-9B7A-88B7-AE25-459B2CA820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8BD24-D6C7-80B8-A973-592AE3B8C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42641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3A89-F208-4A39-8CD3-630C912F3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A2BFF-0F49-5ED3-A26A-CDFC143299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435712-C74C-30BE-25A1-348D6E3FB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3AC60-529D-B547-67E0-99BF0519D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8103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0DD0B-A3DA-240F-9A83-8549F1CD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09B25-C6A1-BADB-B9FF-3FD50BB81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1EB91-4B00-D1C3-0D9C-13874C59D5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AB9DC-81DC-F769-EE15-C935FC6C6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878929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33C1E-AB69-4BC2-B6F8-171513625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D1EBED-3E23-AC72-3A6D-FE7831E738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57B1E-F527-CD82-291B-57B41D5D5C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4C697-A6E6-A78B-CF29-537CE78287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1805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5DAA6-488B-0D2F-3BCB-92CEE6EEC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32F5D3-154A-6CEE-F190-EFE72969C9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0F25-FD78-C342-F558-2E2FC7F87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EBF1-64AC-5D86-5250-C6360BFB6E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0687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50C9-A396-368B-6E29-A1700FE13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F8D85-1B76-D263-BF64-BD59587F3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7FBDF-70AA-E598-AA4B-E38E49510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A5FA5-B477-9990-3BC3-E36EC8FA3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15255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A3B0-2651-155C-2C22-87E175353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244F0-D8A8-B763-861A-625849DBA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98DDF-8791-A075-8C46-F4710F28B2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78664-41E0-84CA-0C86-2D90BB8EF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82280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1.5 мин: показываю цепочку, подчёркиваю gate: прод только руками. Пример: Copilot workspace / агент в CI чинит упавший тест.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анатомия: main стабилен, работа только в ветках, hotfix — короткая ветка от main. Аналогия: main — витрина, ветки — мастерская.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ФИШКА 2 мин: кейс — команда стоит час (−500), hotfix-ветка за 20 мин возвращает прод (+200 относительно долгого простоя). Мораль: ветки экономят простой.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жизненный цикл по шагам, каждый оставляет след: issue, ветка, коммиты, PR, деплой. Пропуск шага = невидимая работа =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1.5 мин: три окружения, деплой идёт лесенкой. В dev — агент хоть каждый коммит, в prod — только после review и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PR — просьба влить + место дискуссии. Хороший PR: маленький, с описанием, с зелёным CI. Кнопка merge — после двух галочек.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чек-лист ревью, правило 15 минут, approve/request changes, suggestion-фича. Тон решает: правим код, хвалим человека.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конфликт — не ошибка, а встреча двух правок. Показать маркеры, правило: говорим с автором второй правки, частый pull лечит.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мин: финал-чеклист, прошу сфотографировать слайд. Каждое правило — итог одной 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Финал 3 мин: вопросы + живое демо: создать ветку, коммит, PR, review самому себе, merge, показать граф. Призыв: завести репозиторий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0A1A5D-5A81-47DB-BE2C-03E0990F0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19431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D18D89D-FEB0-4064-AD3B-357BF020B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08CCA0-7AC9-4458-99BC-25257703B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985775-DA12-4519-AD4E-BF0D8B5A28A2}" type="datetimeFigureOut">
              <a:rPr lang="ru-RU" smtClean="0"/>
              <a:pPr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7410E7-85CD-46DA-BC17-903832138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C549DF-D60D-41D0-9ADE-DA8EA16A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9F1CE1-AE97-4474-A621-9FAA4F63F5A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66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079D8C-B135-4B29-9B74-4C89FD7E531F}"/>
              </a:ext>
            </a:extLst>
          </p:cNvPr>
          <p:cNvSpPr/>
          <p:nvPr userDrawn="1"/>
        </p:nvSpPr>
        <p:spPr>
          <a:xfrm>
            <a:off x="8625840" y="6644640"/>
            <a:ext cx="3600000" cy="2133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F0D1648-B806-40EE-B6E3-7634106F579D}"/>
              </a:ext>
            </a:extLst>
          </p:cNvPr>
          <p:cNvSpPr/>
          <p:nvPr userDrawn="1"/>
        </p:nvSpPr>
        <p:spPr>
          <a:xfrm>
            <a:off x="0" y="-22383"/>
            <a:ext cx="3600000" cy="2133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D45F2DE-3202-46E3-A4DF-1E1F8D2367F3}"/>
              </a:ext>
            </a:extLst>
          </p:cNvPr>
          <p:cNvSpPr/>
          <p:nvPr userDrawn="1"/>
        </p:nvSpPr>
        <p:spPr>
          <a:xfrm rot="16200000">
            <a:off x="8820811" y="3139757"/>
            <a:ext cx="6492875" cy="2133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4E4023C-83D7-4B9B-83E0-97AB0F4AC43B}"/>
              </a:ext>
            </a:extLst>
          </p:cNvPr>
          <p:cNvSpPr/>
          <p:nvPr userDrawn="1"/>
        </p:nvSpPr>
        <p:spPr>
          <a:xfrm rot="16200000">
            <a:off x="-3139758" y="3504883"/>
            <a:ext cx="6492875" cy="2133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804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870539" cy="1325563"/>
          </a:xfrm>
        </p:spPr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70539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B632DE5-F5F2-4462-94DA-690026333B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32750" y="0"/>
            <a:ext cx="4159250" cy="68580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334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1134973-9603-4EB5-B737-91F29D4CD883}"/>
              </a:ext>
            </a:extLst>
          </p:cNvPr>
          <p:cNvSpPr/>
          <p:nvPr userDrawn="1"/>
        </p:nvSpPr>
        <p:spPr>
          <a:xfrm>
            <a:off x="563880" y="428043"/>
            <a:ext cx="11155680" cy="5991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AAB7C-7C1B-4105-BE24-F811EBB4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ECA37A-4894-4A33-9EBE-8B2E3502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83A43-64E5-4616-89E6-626296516E98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230E9E2-71FB-4D16-B449-EA5254AC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F10A82-3FA8-48BC-A562-4BDCC940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B69BD-07F3-416C-B560-DF49FE6E323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0D9FAC9-46ED-4B2F-8516-B63FF235431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301875"/>
            <a:ext cx="4895129" cy="156845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14">
            <a:extLst>
              <a:ext uri="{FF2B5EF4-FFF2-40B4-BE49-F238E27FC236}">
                <a16:creationId xmlns:a16="http://schemas.microsoft.com/office/drawing/2014/main" id="{4413139B-1729-455B-B830-4DAB12D9B2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8672" y="4428023"/>
            <a:ext cx="4879887" cy="1355725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2" name="Текст 14">
            <a:extLst>
              <a:ext uri="{FF2B5EF4-FFF2-40B4-BE49-F238E27FC236}">
                <a16:creationId xmlns:a16="http://schemas.microsoft.com/office/drawing/2014/main" id="{222B09F7-7246-4274-A513-9BEACBF61E1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3441" y="4428022"/>
            <a:ext cx="4879888" cy="1355725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2" name="Рисунок 9">
            <a:extLst>
              <a:ext uri="{FF2B5EF4-FFF2-40B4-BE49-F238E27FC236}">
                <a16:creationId xmlns:a16="http://schemas.microsoft.com/office/drawing/2014/main" id="{4B61BE1B-0619-47D5-8D00-1DBE9B7F40B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458672" y="2320617"/>
            <a:ext cx="4940847" cy="156845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6887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4E300-70A9-4046-B13A-C580CDF08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2941CF8-4508-43CA-BA33-C0B9ED753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F7B9934-7384-4A83-8B0E-FFF486DDF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F36D14-7448-4ACB-B1EC-DDDAAA955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438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72816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6F616B-C814-43CB-9D66-2ACCE175F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AE93A1-6738-46E4-8F22-EE921A983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C78392C-C9F7-4DEF-AA81-542C2AAC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0A34EB-7EF1-4575-A605-E6075A63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F6B72C-E973-4717-9B32-EB861DCB2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8719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9AC03E-CC96-46B4-8F06-809941B60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D83CB0-A9EB-4FCC-AFF1-9C0719455B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2A519CA-8C32-464E-AB8C-C7DAE493B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389CDC-954B-4F3C-8708-20D835E73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21DA71-9B62-4B5B-9FC5-8A2FE4CE5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C5407C-33E1-4753-B9AC-F00DBA808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0741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663584-63A5-4369-B563-05FB3555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8BDB9A-93BD-4EBA-9434-1716F8976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6B4D10-58E3-4843-B773-ACE304291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F791276-15DC-4AAA-A29A-7294AAED5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84DE98-0C02-460E-AEB8-1FFCF6EE59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AE545B8-BE5D-416A-A9C4-DD9421383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03D84F0-63EB-4F1F-A304-21FC5773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BA2A66-252D-4BBD-AD7E-3C84EC958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98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A3F95C-774F-4E30-AE17-04AC0612D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A740606-3AD8-42ED-B129-A3DEC06B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47C616E-EC5D-4161-B871-4DBFA23F1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17A186C-6BE5-484A-94F6-B5CFB1FB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21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4059D37-F92B-4726-A34B-164AC46F6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B8A300-DCC2-4DBC-89F3-19460679B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E01FBC-E1B1-44CF-B5F4-B0621F58B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877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CDE81A-B789-490D-9823-1DCB79555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E3DE41-335B-4255-BD1B-1BD5FD769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1CDC965-EE27-49DE-926C-3E4E5F353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87F107-3B06-47AE-890B-4028A5F72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E7A224-216B-43E1-A95E-10F95BB0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BF9C8F-012F-410C-9624-42ADB56B0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1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7FA0CA-376B-46DC-813B-5E5FBFAAC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EBA494-E82E-4757-A3C0-955EA65D1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3117C38-1525-4DAA-A6A8-79732457C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F361C5-F126-4C0B-AE3A-2CBA980EF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F4F4485-29FD-4F98-96FC-E5D8DCB98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2FB67-03FB-449E-89B5-DF67F63D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1768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75B5E7-60F9-464C-B174-D06589C5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28484D1-D333-4AE1-BBFC-CD1DEC20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A59D6A-B58D-4E95-A396-200C9B9B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B437D5-797B-49CA-AD3B-BE3CAF57E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1F4BFD-DCAB-4FA8-B42C-658D6832F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869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DD7D349-5ABD-40CA-91CD-9AC19B7C0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28E4FE5-4CB9-457C-9776-A6FC25BBA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DF420E-C006-48BA-ACD0-A009889F4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6841BA-4A5C-4F80-82B2-3FE13D1DF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5348BA-A8D9-4752-9849-D1F480476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716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hyperlink" Target="https://presentation-creation.ru/" TargetMode="Externa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569195-B136-450A-9EBB-E4D32554B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56AFD3-762E-431D-8169-48E9431F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B0A7F1-90CF-4B8D-9FE0-9796384F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2E4D6C-F1D3-4A14-8D0D-B4CCD0AC8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ACE525-741D-45DF-830F-DE1754B07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7"/>
            <a:extLst>
              <a:ext uri="{FF2B5EF4-FFF2-40B4-BE49-F238E27FC236}">
                <a16:creationId xmlns:a16="http://schemas.microsoft.com/office/drawing/2014/main" id="{5B02C175-E080-45D1-9C7B-D1AA06E5A42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194000" y="367393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26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3" r:id="rId4"/>
    <p:sldLayoutId id="2147483661" r:id="rId5"/>
    <p:sldLayoutId id="214748366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customXml" Target="../ink/ink3.xml"/><Relationship Id="rId5" Type="http://schemas.openxmlformats.org/officeDocument/2006/relationships/image" Target="../media/image14.png"/><Relationship Id="rId4" Type="http://schemas.openxmlformats.org/officeDocument/2006/relationships/customXml" Target="../ink/ink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764" y="1600200"/>
            <a:ext cx="9144000" cy="1943100"/>
          </a:xfrm>
        </p:spPr>
        <p:txBody>
          <a:bodyPr>
            <a:normAutofit/>
          </a:bodyPr>
          <a:lstStyle/>
          <a:p>
            <a:r>
              <a:rPr lang="en-US" sz="12000" dirty="0">
                <a:highlight>
                  <a:srgbClr val="000000"/>
                </a:highlight>
                <a:latin typeface="Calibri Light"/>
              </a:rPr>
              <a:t>Git</a:t>
            </a:r>
            <a:endParaRPr sz="12000" dirty="0">
              <a:highlight>
                <a:srgbClr val="000000"/>
              </a:highlight>
              <a:latin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4" y="3980825"/>
            <a:ext cx="9144000" cy="1655762"/>
          </a:xfrm>
        </p:spPr>
        <p:txBody>
          <a:bodyPr/>
          <a:lstStyle/>
          <a:p>
            <a:r>
              <a:rPr dirty="0" err="1">
                <a:highlight>
                  <a:srgbClr val="000000"/>
                </a:highlight>
              </a:rPr>
              <a:t>Как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не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лежать</a:t>
            </a:r>
            <a:r>
              <a:rPr dirty="0">
                <a:highlight>
                  <a:srgbClr val="000000"/>
                </a:highlight>
              </a:rPr>
              <a:t> в </a:t>
            </a:r>
            <a:r>
              <a:rPr dirty="0" err="1">
                <a:highlight>
                  <a:srgbClr val="000000"/>
                </a:highlight>
              </a:rPr>
              <a:t>простое</a:t>
            </a:r>
            <a:r>
              <a:rPr dirty="0">
                <a:highlight>
                  <a:srgbClr val="000000"/>
                </a:highlight>
              </a:rPr>
              <a:t>  •  7 </a:t>
            </a:r>
            <a:r>
              <a:rPr dirty="0" err="1">
                <a:highlight>
                  <a:srgbClr val="000000"/>
                </a:highlight>
              </a:rPr>
              <a:t>тем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за</a:t>
            </a:r>
            <a:r>
              <a:rPr dirty="0">
                <a:highlight>
                  <a:srgbClr val="000000"/>
                </a:highlight>
              </a:rPr>
              <a:t> 20 </a:t>
            </a:r>
            <a:r>
              <a:rPr dirty="0" err="1">
                <a:highlight>
                  <a:srgbClr val="000000"/>
                </a:highlight>
              </a:rPr>
              <a:t>минут</a:t>
            </a:r>
            <a:endParaRPr dirty="0">
              <a:highlight>
                <a:srgbClr val="000000"/>
              </a:highligh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29739" y="4300875"/>
            <a:ext cx="108813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dirty="0">
                <a:solidFill>
                  <a:srgbClr val="FF0000"/>
                </a:solidFill>
                <a:latin typeface="Calibri"/>
              </a:rPr>
              <a:t>Git  •  GitHub / GitLab  •  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ветки</a:t>
            </a:r>
            <a:r>
              <a:rPr sz="3000" b="0" dirty="0">
                <a:solidFill>
                  <a:srgbClr val="FF0000"/>
                </a:solidFill>
                <a:latin typeface="Calibri"/>
              </a:rPr>
              <a:t>  •  PR  •  review  •  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конфликты</a:t>
            </a:r>
            <a:r>
              <a:rPr sz="3000" b="0" dirty="0">
                <a:solidFill>
                  <a:srgbClr val="FF0000"/>
                </a:solidFill>
                <a:latin typeface="Calibri"/>
              </a:rPr>
              <a:t>  •  ИИ-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деплой</a:t>
            </a:r>
            <a:endParaRPr sz="30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2853583" cy="1325563"/>
          </a:xfrm>
        </p:spPr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PLAN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02692" y="254995"/>
            <a:ext cx="800669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1. Git, GitHub, GitLab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2. ИИ-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агенты</a:t>
            </a:r>
            <a:r>
              <a:rPr sz="4000" dirty="0">
                <a:solidFill>
                  <a:srgbClr val="333333"/>
                </a:solidFill>
                <a:latin typeface="Calibri"/>
              </a:rPr>
              <a:t> в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деплое</a:t>
            </a:r>
            <a:endParaRPr sz="40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3.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Ветки</a:t>
            </a:r>
            <a:r>
              <a:rPr sz="4000" dirty="0">
                <a:solidFill>
                  <a:srgbClr val="333333"/>
                </a:solidFill>
                <a:latin typeface="Calibri"/>
              </a:rPr>
              <a:t>: main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свят</a:t>
            </a:r>
            <a:endParaRPr sz="40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4.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Деплой</a:t>
            </a:r>
            <a:r>
              <a:rPr sz="4000" dirty="0">
                <a:solidFill>
                  <a:srgbClr val="333333"/>
                </a:solidFill>
                <a:latin typeface="Calibri"/>
              </a:rPr>
              <a:t>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фичи</a:t>
            </a:r>
            <a:r>
              <a:rPr sz="4000" dirty="0">
                <a:solidFill>
                  <a:srgbClr val="333333"/>
                </a:solidFill>
                <a:latin typeface="Calibri"/>
              </a:rPr>
              <a:t>: dev → prod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5. Pull Request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6. Code review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7. Merge-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конфликты</a:t>
            </a:r>
            <a:endParaRPr sz="40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Git = снапшоты, а не файлы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64592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commit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точка сохранения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64592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branch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параллельная ветка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64592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merge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склейка в main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6C9D3A-CF86-9AF8-941D-F02AE9B33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285" y="3220159"/>
            <a:ext cx="5401429" cy="30865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GitHub vs GitLab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12080" cy="137160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стандарт +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21208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Actions, PR,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Codespaces</a:t>
            </a:r>
            <a:endParaRPr sz="16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 err="1">
                <a:solidFill>
                  <a:srgbClr val="333333"/>
                </a:solidFill>
                <a:latin typeface="Calibri"/>
              </a:rPr>
              <a:t>сообщество</a:t>
            </a:r>
            <a:r>
              <a:rPr sz="1600" dirty="0">
                <a:solidFill>
                  <a:srgbClr val="333333"/>
                </a:solidFill>
                <a:latin typeface="Calibri"/>
              </a:rPr>
              <a:t>, open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6960" y="1448085"/>
            <a:ext cx="5212080" cy="137160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GitLab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всё в одном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720" y="3002565"/>
            <a:ext cx="521208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 err="1">
                <a:solidFill>
                  <a:srgbClr val="333333"/>
                </a:solidFill>
                <a:latin typeface="Calibri"/>
              </a:rPr>
              <a:t>встроенный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CI/CD, MR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 self-hosted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из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коробки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A1F700-5B66-135F-45CD-64BD6B92D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23" y="4417662"/>
            <a:ext cx="11240368" cy="18942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3714-E4FD-11EC-BCBD-78ADC5F1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9939-4067-235C-2A13-A2207BAEF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Git ignores?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8585809-3BEA-F4B6-EE4B-00995EAF2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343" y="1561429"/>
            <a:ext cx="8253752" cy="463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81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C569-D012-3230-D8CF-AA5D8B49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2240-81CE-AE64-8172-A151143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CD81EE-4AB6-2AE9-9935-718DC4F44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34" y="1690688"/>
            <a:ext cx="8964276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552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4A78-673F-A954-BE06-EC2F64BB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8A0E7-C857-096D-4FDA-A3B8E3432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5DE4C32-D3CE-234E-8631-1AAD22369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9" y="1437996"/>
            <a:ext cx="11469869" cy="378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690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4CE77-C026-2F27-0FEB-E6B8F2B5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04BFF-7D06-7AA6-D117-E71F3063A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63477F-EACA-337F-B235-284795BF7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4" y="1620241"/>
            <a:ext cx="12677284" cy="37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98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4246A-A2CB-DA39-7291-B5658EF6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F3927-5C2E-66FF-DC8D-60D60192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691E10F-EF0B-7EDC-42FF-E458D984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08" y="1456073"/>
            <a:ext cx="9078592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91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77A22-7C17-581A-5F7F-E60D412D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A368E-2045-73FB-7643-5D105B83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11219A-1A3D-03EC-DA24-A5E42D481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7" y="1273205"/>
            <a:ext cx="12192000" cy="591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872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0F368-61F7-2B31-9D59-EA66B16D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21961-0055-2F3F-B2A7-A0B88B1B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AA165B-3747-00B7-A47B-CCC2FCA75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66529"/>
            <a:ext cx="12192000" cy="546318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21F9AAE0-E8B6-FBC1-5950-BB33CF41D446}"/>
                  </a:ext>
                </a:extLst>
              </p14:cNvPr>
              <p14:cNvContentPartPr/>
              <p14:nvPr/>
            </p14:nvContentPartPr>
            <p14:xfrm>
              <a:off x="9928625" y="3460465"/>
              <a:ext cx="900720" cy="50580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21F9AAE0-E8B6-FBC1-5950-BB33CF41D44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65985" y="3397465"/>
                <a:ext cx="1026360" cy="631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2239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40C11-5F6F-778A-0EA7-3797600D3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54DBC-F154-EBF6-E5A0-9EA71C8C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A98CC6-9A70-237E-5A01-BF74DA8EA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095"/>
            <a:ext cx="11681801" cy="674690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0E33EF00-88AF-0C52-842D-0D72FBE8EBA0}"/>
                  </a:ext>
                </a:extLst>
              </p14:cNvPr>
              <p14:cNvContentPartPr/>
              <p14:nvPr/>
            </p14:nvContentPartPr>
            <p14:xfrm>
              <a:off x="2332625" y="6382696"/>
              <a:ext cx="1550520" cy="33444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0E33EF00-88AF-0C52-842D-0D72FBE8EBA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69985" y="6320056"/>
                <a:ext cx="1676160" cy="46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BEC8874F-6A68-3B85-8CF0-CF57F54BEF45}"/>
                  </a:ext>
                </a:extLst>
              </p14:cNvPr>
              <p14:cNvContentPartPr/>
              <p14:nvPr/>
            </p14:nvContentPartPr>
            <p14:xfrm>
              <a:off x="9491585" y="4885096"/>
              <a:ext cx="942840" cy="661320"/>
            </p14:xfrm>
          </p:contentPart>
        </mc:Choice>
        <mc:Fallback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BEC8874F-6A68-3B85-8CF0-CF57F54BEF4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28945" y="4822096"/>
                <a:ext cx="1068480" cy="78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6129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9C59-215B-F4E7-AD91-C639CA71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91A07-937A-10A6-4B37-3DE8A8BD3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. 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GitHub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A655B0D-4994-326A-F718-7044AC699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4080"/>
            <a:ext cx="12192000" cy="620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559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ИИ-агенты деплоят сами?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56032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пишет фичу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463040"/>
            <a:ext cx="256032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Тест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гоняет тесты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256032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Деплой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катит на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1463040"/>
            <a:ext cx="256032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Откат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отменяет при аварии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66160"/>
            <a:ext cx="10881360" cy="246888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3  →  лог ИИ-агента: сгенерировал PR + прошёл CI (см. Ш3)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843835-F3FC-868C-DDA8-1A04B1495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0" y="3429000"/>
            <a:ext cx="12069859" cy="402011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Агент: план → код → прод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241173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1. План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читает issue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3352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63290" y="1828800"/>
            <a:ext cx="2411730" cy="1737360"/>
          </a:xfrm>
          <a:prstGeom prst="roundRect">
            <a:avLst/>
          </a:prstGeom>
          <a:solidFill>
            <a:srgbClr val="629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2. 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меняет ветку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673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6500" y="1828800"/>
            <a:ext cx="241173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3. Проверка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тесты + review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7994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09710" y="1828800"/>
            <a:ext cx="241173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4. Деплой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только в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 err="1">
                <a:solidFill>
                  <a:srgbClr val="242852"/>
                </a:solidFill>
                <a:latin typeface="Calibri"/>
              </a:rPr>
              <a:t>человек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жмёт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кнопку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в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прод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 • 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агент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готовит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,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не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решает</a:t>
            </a:r>
            <a:endParaRPr sz="1800" b="1" dirty="0">
              <a:solidFill>
                <a:srgbClr val="242852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881360" cy="109728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ru-RU" sz="4500" b="1" dirty="0">
                <a:solidFill>
                  <a:srgbClr val="242852"/>
                </a:solidFill>
                <a:latin typeface="Calibri"/>
              </a:rPr>
              <a:t>ОН УМНЫЙ, НО ДОВЕРЯТЬ ЕМУ НЕ СТОИТ</a:t>
            </a:r>
            <a:endParaRPr sz="4500" b="1" dirty="0">
              <a:solidFill>
                <a:srgbClr val="24285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main — священен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55448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main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всегда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55448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feature/*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новая фича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55448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hotfix/*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срочный фикс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265176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4  →  граф веток: main + 2 feature + hotfix (см. Ш4)</a:t>
            </a:r>
            <a:br/>
            <a:r>
              <a:t>команды: git branch / git switch -c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B0D299E-A6FA-AEF3-67D2-2DEE4DE84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66" y="3522966"/>
            <a:ext cx="10548820" cy="17839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 dirty="0">
                <a:solidFill>
                  <a:srgbClr val="242852"/>
                </a:solidFill>
                <a:latin typeface="Calibri Light"/>
              </a:rPr>
              <a:t>200 </a:t>
            </a:r>
            <a:r>
              <a:rPr sz="4000" b="1" dirty="0" err="1">
                <a:solidFill>
                  <a:srgbClr val="242852"/>
                </a:solidFill>
                <a:latin typeface="Calibri Light"/>
              </a:rPr>
              <a:t>заработать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, 500 </a:t>
            </a:r>
            <a:r>
              <a:rPr sz="4000" b="1" dirty="0" err="1">
                <a:solidFill>
                  <a:srgbClr val="242852"/>
                </a:solidFill>
                <a:latin typeface="Calibri Light"/>
              </a:rPr>
              <a:t>потерять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B62F9C-5E38-5929-4744-020A645A2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30" y="1783169"/>
            <a:ext cx="11395988" cy="12505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1DB2CE-0A75-1070-8519-D182D4A11BC4}"/>
              </a:ext>
            </a:extLst>
          </p:cNvPr>
          <p:cNvSpPr txBox="1"/>
          <p:nvPr/>
        </p:nvSpPr>
        <p:spPr>
          <a:xfrm>
            <a:off x="512747" y="4076891"/>
            <a:ext cx="1029127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500" b="1" dirty="0">
                <a:solidFill>
                  <a:srgbClr val="242852"/>
                </a:solidFill>
                <a:latin typeface="Calibri"/>
              </a:rPr>
              <a:t>Main </a:t>
            </a:r>
            <a:r>
              <a:rPr lang="ru-RU" sz="4500" b="1" dirty="0">
                <a:solidFill>
                  <a:srgbClr val="242852"/>
                </a:solidFill>
                <a:latin typeface="Calibri"/>
              </a:rPr>
              <a:t>лег -</a:t>
            </a:r>
            <a:r>
              <a:rPr lang="en-US" sz="4500" b="1" dirty="0">
                <a:solidFill>
                  <a:srgbClr val="242852"/>
                </a:solidFill>
                <a:latin typeface="Calibri"/>
              </a:rPr>
              <a:t>&gt; </a:t>
            </a:r>
            <a:r>
              <a:rPr lang="ru-RU" sz="4500" b="1">
                <a:solidFill>
                  <a:srgbClr val="242852"/>
                </a:solidFill>
                <a:latin typeface="Calibri"/>
              </a:rPr>
              <a:t>вынужденный простой</a:t>
            </a:r>
            <a:endParaRPr lang="ru-RU" sz="4500" b="1" dirty="0">
              <a:solidFill>
                <a:srgbClr val="24285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42852"/>
                </a:solidFill>
                <a:latin typeface="Calibri Light"/>
              </a:rPr>
              <a:t>Путь фичи: идея → прод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147066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Идея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issue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09245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22220" y="1554480"/>
            <a:ext cx="147066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Ветка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feature/*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7459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04360" y="1554480"/>
            <a:ext cx="147066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commit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673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86500" y="1554480"/>
            <a:ext cx="147066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3887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640" y="1554480"/>
            <a:ext cx="1470660" cy="1737360"/>
          </a:xfrm>
          <a:prstGeom prst="roundRect">
            <a:avLst/>
          </a:prstGeom>
          <a:solidFill>
            <a:srgbClr val="629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Stage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проверка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62101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50780" y="1554480"/>
            <a:ext cx="147066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Прод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42852"/>
                </a:solidFill>
                <a:latin typeface="Calibri"/>
              </a:rPr>
              <a:t>ни один шаг не пропускаем  •  каждый шаг виден в GitHub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10881360" cy="137160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5  →  доска Issues: To Do → In Progress → Done (см. Ш5)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dev → stage → prod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828800"/>
          </a:xfrm>
          <a:prstGeom prst="roundRect">
            <a:avLst/>
          </a:prstGeom>
          <a:solidFill>
            <a:srgbClr val="7F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dev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ломать можно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82880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stage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как прод, но не прод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82880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prod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трогаем осторожно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0881360" cy="237744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6  →  pipeline: зелёные галочки dev → stage → prod (Actions / GitLab CI, см. Ш6)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Pull Request = ворота в 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41173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Создай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push ветки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3352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63290" y="1554480"/>
            <a:ext cx="241173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Проверки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CI зелёный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673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6500" y="1554480"/>
            <a:ext cx="241173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Обсуди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7994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09710" y="1554480"/>
            <a:ext cx="241173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Влей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0881360" cy="228600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7  →  страница PR: diff + Checks + кнопка Merge (см. Ш7)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Review: найди баг до прода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Логика и крайние случаи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Тесты и читаемость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Без секретов в коде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✋ Тон: к коду, не к человеку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463040"/>
            <a:ext cx="5212080" cy="310896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8  →  комментарий ревью: suggestion + Approve (см. Ш8)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42852"/>
                </a:solidFill>
                <a:latin typeface="Calibri"/>
              </a:rPr>
              <a:t>маленький PR ревьювят за 15 минут  •  большой — никогда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Конфликт: два правят одно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64592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1. pull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забери чужое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64592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2. resolve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выбери правду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64592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3. push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отправь мир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881360" cy="256032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9  →  маркеры &lt;&lt;&lt;&lt;&lt;&lt;&lt; HEAD … ======= … &gt;&gt;&gt;&gt;&gt;&gt;&gt; + кнопка Resolve (см. Ш9)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5 правил выживания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1. main не ломаем — работаем в ветках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2. Маленький PR &gt; большой подвиг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3. Зелёный CI + review = merge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4. Конфликт? Говорим, потом кликаем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5. Агент готовит — человек отвечает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Спасибо! Вопросы?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Демо: ветка → PR → merge за 3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7F8FA9"/>
                </a:solidFill>
                <a:latin typeface="Calibri"/>
              </a:rPr>
              <a:t>repo: github.com/&lt;твой-ник&gt;/&lt;проект&gt;  •  &lt;имя&gt; 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плый синий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1259</Words>
  <Application>Microsoft Office PowerPoint</Application>
  <PresentationFormat>Широкоэкранный</PresentationFormat>
  <Paragraphs>148</Paragraphs>
  <Slides>24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Тема Office</vt:lpstr>
      <vt:lpstr>Git</vt:lpstr>
      <vt:lpstr>PLAN</vt:lpstr>
      <vt:lpstr>Git = снапшоты, а не файлы</vt:lpstr>
      <vt:lpstr>GitHub vs GitLab</vt:lpstr>
      <vt:lpstr>Git ignores?</vt:lpstr>
      <vt:lpstr>Commit</vt:lpstr>
      <vt:lpstr>Commit</vt:lpstr>
      <vt:lpstr>Commit</vt:lpstr>
      <vt:lpstr>Commit/merge conflict . Там же ридми</vt:lpstr>
      <vt:lpstr>Commit/merge conflict . Там же ридми</vt:lpstr>
      <vt:lpstr>Commit/merge conflict . Там же ридми</vt:lpstr>
      <vt:lpstr>Commit/merge conflict . Там же ридми</vt:lpstr>
      <vt:lpstr>Commit/merge conflict . Там же ридми. GitHub</vt:lpstr>
      <vt:lpstr>ИИ-агенты деплоят сами?</vt:lpstr>
      <vt:lpstr>Агент: план → код → прод</vt:lpstr>
      <vt:lpstr>main — священен</vt:lpstr>
      <vt:lpstr>200 заработать, 500 потерять</vt:lpstr>
      <vt:lpstr>Путь фичи: идея → прод</vt:lpstr>
      <vt:lpstr>dev → stage → prod</vt:lpstr>
      <vt:lpstr>Pull Request = ворота в main</vt:lpstr>
      <vt:lpstr>Review: найди баг до прода</vt:lpstr>
      <vt:lpstr>Конфликт: два правят одно</vt:lpstr>
      <vt:lpstr>5 правил выживания</vt:lpstr>
      <vt:lpstr>Спасибо! 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 Obstinate</dc:creator>
  <cp:lastModifiedBy>Никита Гулевич</cp:lastModifiedBy>
  <cp:revision>15</cp:revision>
  <dcterms:created xsi:type="dcterms:W3CDTF">2021-12-06T03:54:55Z</dcterms:created>
  <dcterms:modified xsi:type="dcterms:W3CDTF">2026-09-17T19:27:54Z</dcterms:modified>
</cp:coreProperties>
</file>