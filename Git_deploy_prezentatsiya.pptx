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ink/ink1.xml" ContentType="application/inkml+xml"/>
  <Override PartName="/ppt/notesSlides/notesSlide12.xml" ContentType="application/vnd.openxmlformats-officedocument.presentationml.notesSlide+xml"/>
  <Override PartName="/ppt/ink/ink2.xml" ContentType="application/inkml+xml"/>
  <Override PartName="/ppt/ink/ink3.xml" ContentType="application/inkml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ink/ink4.xml" ContentType="application/inkml+xml"/>
  <Override PartName="/ppt/notesSlides/notesSlide20.xml" ContentType="application/vnd.openxmlformats-officedocument.presentationml.notesSlide+xml"/>
  <Override PartName="/ppt/ink/ink5.xml" ContentType="application/inkml+xml"/>
  <Override PartName="/ppt/notesSlides/notesSlide21.xml" ContentType="application/vnd.openxmlformats-officedocument.presentationml.notesSlide+xml"/>
  <Override PartName="/ppt/ink/ink6.xml" ContentType="application/inkml+xml"/>
  <Override PartName="/ppt/notesSlides/notesSlide22.xml" ContentType="application/vnd.openxmlformats-officedocument.presentationml.notesSlide+xml"/>
  <Override PartName="/ppt/ink/ink7.xml" ContentType="application/inkml+xml"/>
  <Override PartName="/ppt/notesSlides/notesSlide23.xml" ContentType="application/vnd.openxmlformats-officedocument.presentationml.notesSlide+xml"/>
  <Override PartName="/ppt/ink/ink8.xml" ContentType="application/inkml+xml"/>
  <Override PartName="/ppt/notesSlides/notesSlide24.xml" ContentType="application/vnd.openxmlformats-officedocument.presentationml.notesSlide+xml"/>
  <Override PartName="/ppt/ink/ink9.xml" ContentType="application/inkml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71" r:id="rId6"/>
    <p:sldId id="272" r:id="rId7"/>
    <p:sldId id="273" r:id="rId8"/>
    <p:sldId id="274" r:id="rId9"/>
    <p:sldId id="275" r:id="rId10"/>
    <p:sldId id="276" r:id="rId11"/>
    <p:sldId id="277" r:id="rId12"/>
    <p:sldId id="278" r:id="rId13"/>
    <p:sldId id="279" r:id="rId14"/>
    <p:sldId id="260" r:id="rId15"/>
    <p:sldId id="261" r:id="rId16"/>
    <p:sldId id="262" r:id="rId17"/>
    <p:sldId id="263" r:id="rId18"/>
    <p:sldId id="264" r:id="rId19"/>
    <p:sldId id="280" r:id="rId20"/>
    <p:sldId id="281" r:id="rId21"/>
    <p:sldId id="282" r:id="rId22"/>
    <p:sldId id="283" r:id="rId23"/>
    <p:sldId id="284" r:id="rId24"/>
    <p:sldId id="285" r:id="rId25"/>
    <p:sldId id="286" r:id="rId26"/>
    <p:sldId id="265" r:id="rId27"/>
    <p:sldId id="266" r:id="rId28"/>
    <p:sldId id="267" r:id="rId29"/>
    <p:sldId id="268" r:id="rId30"/>
    <p:sldId id="269" r:id="rId31"/>
    <p:sldId id="270" r:id="rId3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60709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2" d="100"/>
          <a:sy n="112" d="100"/>
        </p:scale>
        <p:origin x="90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53:58.09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265 1188 24575,'44'2'0,"0"1"0,0 2 0,43 12 0,127 41 0,-7-1 0,-157-46 0,28 8 0,1-3 0,1-4 0,113 4 0,379-18 0,-553 1 0,0-1 0,0 0 0,0-1 0,0-1 0,-1-1 0,1 0 0,-1-2 0,0 0 0,-1-1 0,0-1 0,0 0 0,-1-1 0,0-1 0,-1-1 0,18-16 0,0-1 0,-19 19 0,-1-2 0,0 1 0,-1-2 0,0 0 0,-1 0 0,0-1 0,-1 0 0,-1-1 0,14-29 0,46-131 0,-65 161 0,0 0 0,-2-1 0,1 0 0,-2 1 0,0-1 0,-1 0 0,0 0 0,-1 0 0,-1 1 0,-5-20 0,-3-6 0,-1 1 0,-26-56 0,31 83 0,-1 0 0,0 0 0,-1 0 0,-11-12 0,12 16 0,-1-1 0,2-1 0,-1 1 0,1-1 0,1-1 0,0 1 0,-5-14 0,8 16 0,-2 1 0,1-1 0,-1 0 0,0 1 0,0 0 0,-1 0 0,0 0 0,0 0 0,-1 1 0,0 0 0,0 0 0,-1 0 0,1 1 0,-1 0 0,0 1 0,-10-6 0,-14-5 0,0 2 0,-61-18 0,-11-4 0,71 23 0,-2 2 0,1 1 0,-1 2 0,-62-5 0,-5-2 0,63 6 0,0-3 0,-50-21 0,-41-11 0,93 37 0,0 2 0,0 1 0,-1 2 0,-53 4 0,0 0 0,-77-15 0,2-1 0,-269 14 0,426-1 0,-1 0 0,1 1 0,-1 0 0,1 0 0,0 1 0,-1 0 0,1 0 0,0 1 0,0 0 0,1 0 0,-1 1 0,1 0 0,-1 0 0,1 1 0,1 0 0,-1 0 0,1 1 0,0 0 0,0 0 0,0 0 0,1 1 0,-8 12 0,3-2 0,-8 15 0,-17 41 0,30-60 0,1 0 0,0 0 0,1 1 0,0-1 0,1 1 0,-1 22 0,3-13 0,0 25 0,5 49 0,-3-81 0,0 0 0,2-1 0,0 0 0,0 1 0,1-2 0,1 1 0,9 15 0,8 14 0,-15-27 0,1 0 0,1-1 0,0 0 0,23 27 0,-2-4 0,-26-31 0,1 0 0,1 0 0,-1-1 0,1 1 0,12 8 0,73 74 0,-79-78-242,-1 2 0,0-1 0,13 21 0,-22-30-155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53:42.657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1 928 24575,'1'-33'0,"1"-1"0,2 1 0,1 0 0,1 0 0,3 0 0,0 1 0,2 1 0,1-1 0,2 2 0,1 0 0,26-40 0,-19 42 0,1 2 0,30-28 0,-38 40 0,11-12 0,1 2 0,1 1 0,1 1 0,43-23 0,-42 30 0,0 1 0,1 1 0,46-12 0,-49 15 0,52-27 0,-65 28 0,1 1 0,0 1 0,0 0 0,1 1 0,-1 1 0,1 1 0,0 0 0,1 1 0,17-1 0,-5 2 0,0-1 0,0-2 0,31-8 0,-31 6 0,-1 1 0,1 1 0,36 0 0,-26 3 0,44-8 0,33-1 0,614 10 0,-351 2 0,-350 1 0,58 10 0,-16 0 0,-7-4 0,-9-1 0,65 1 0,-80-6 0,0 2 0,-1 2 0,78 22 0,-30-7 0,-37-9 0,13 1 0,-1 3 0,82 32 0,-111-31 0,0 1 0,56 41 0,-55-34 0,66 34 0,-31-18 0,-54-30 0,1 0 0,0-2 0,33 14 0,25 12 0,-38-17 0,-25-12-151,-1 0-1,1 1 0,-1 0 0,0 0 1,-1 1-1,1 1 0,-2 0 1,10 10-1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8:53:49.705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245 1836 24575,'53'-2'0,"0"-2"0,82-17 0,100-37 0,-9 1 0,203-18 0,-314 54 0,-2-4 0,198-72 0,-227 68 0,-15 7 0,103-40 0,-131 46 0,-30 13 0,0-1 0,0 0 0,0-1 0,0 0 0,-1-1 0,0 0 0,0-1 0,-1 0 0,1 0 0,-2-1 0,1 0 0,-1 0 0,13-18 0,-4-2 0,-1-1 0,-2 0 0,-1-2 0,13-42 0,17-34 0,-31 83 0,-2-1 0,0 0 0,-2-1 0,9-40 0,-16 58 0,-1 0 0,1 1 0,-1-1 0,-1 0 0,1 0 0,-1 1 0,-1-1 0,1 0 0,-1 1 0,0-1 0,-1 1 0,0 0 0,0-1 0,-1 2 0,0-1 0,0 0 0,0 1 0,-1-1 0,0 1 0,-6-5 0,-102-93 0,-5 5 0,-150-96 0,183 134 0,-138-84 0,217 142 0,0 0 0,0 0 0,0 1 0,-1 0 0,1 0 0,-1 1 0,0 0 0,1 0 0,-10 0 0,-67 5 0,28 0 0,-23-1 0,-128 22 0,38-4 0,-34 7 0,186-25 0,-56 11 0,-74 25 0,-56 39 0,99-35 0,91-37 0,1 0 0,0 1 0,0 1 0,0-1 0,1 2 0,0 0 0,0 0 0,-7 11 0,-7 8 0,-33 51 0,41-51 0,2 1 0,0 0 0,2 1 0,-9 37 0,20-65 0,-16 54 0,4-12 0,-23 52 0,31-83 0,1-1 0,0 1 0,1 0 0,0 0 0,1 0 0,0 0 0,1 0 0,1 0 0,0 1 0,1-1 0,0 0 0,1 0 0,0 0 0,1 0 0,8 22 0,8 12 0,2-1 0,50 81 0,-11-22 0,-39-64 0,39 82 0,-58-118-170,0 0-1,1 0 0,0 0 1,0-1-1,0 1 0,0-1 1,7 7-1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9:46:13.20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75 24575,'114'1'0,"498"-24"0,-593 20 0,1-2 0,35-12 0,-39 11 0,0 1 0,0 1 0,0 0 0,27-2 0,428 4 0,-230 5 0,-94-6 0,158 6 0,-227 9 0,-50-7 0,55 3 0,1-4 0,83 16 0,81 4 0,108-27 0,152 5 0,-22 56 0,-345-37 0,-8-2 0,216 2 0,759-22 0,-868 13 0,-17 0 0,-137-12 0,-4-1 0,0 4 0,142 22 0,-137-13 0,0-3 0,0-4 0,110-9 0,-41 2 0,278 21 0,98-11 0,-303-11 0,4626 3 0,-4456-12 0,-10-1 0,3714 11 0,-2014 5 0,5688-3-1365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9:46:13.206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1 75 24575,'114'1'0,"498"-24"0,-593 20 0,1-2 0,35-12 0,-39 11 0,0 1 0,0 1 0,0 0 0,27-2 0,428 4 0,-230 5 0,-94-6 0,158 6 0,-227 9 0,-50-7 0,55 3 0,1-4 0,83 16 0,81 4 0,108-27 0,152 5 0,-22 56 0,-345-37 0,-8-2 0,216 2 0,759-22 0,-868 13 0,-17 0 0,-137-12 0,-4-1 0,0 4 0,142 22 0,-137-13 0,0-3 0,0-4 0,110-9 0,-41 2 0,278 21 0,98-11 0,-303-11 0,4626 3 0,-4456-12 0,-10-1 0,3714 11 0,-2014 5 0,5688-3-1365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9:48:36.2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24575,'909'35'0,"11"25"0,-788-51 0,170 35 0,-51-3 0,-65-18 0,-97-11 0,143 3 0,190-14 0,149-4 0,-210-31 0,-174-5 0,-161 34 0,0-2 0,0 0 0,32-15 0,-23 9 0,56-21-1365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9:48:36.2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24575,'909'35'0,"11"25"0,-788-51 0,170 35 0,-51-3 0,-65-18 0,-97-11 0,143 3 0,190-14 0,149-4 0,-210-31 0,-174-5 0,-161 34 0,0-2 0,0 0 0,32-15 0,-23 9 0,56-21-1365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9:48:36.2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24575,'909'35'0,"11"25"0,-788-51 0,170 35 0,-51-3 0,-65-18 0,-97-11 0,143 3 0,190-14 0,149-4 0,-210-31 0,-174-5 0,-161 34 0,0-2 0,0 0 0,32-15 0,-23 9 0,56-21-1365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17T19:48:36.218"/>
    </inkml:context>
    <inkml:brush xml:id="br0">
      <inkml:brushProperty name="width" value="0.35" units="cm"/>
      <inkml:brushProperty name="height" value="0.35" units="cm"/>
      <inkml:brushProperty name="color" value="#E71224"/>
    </inkml:brush>
  </inkml:definitions>
  <inkml:trace contextRef="#ctx0" brushRef="#br0">0 0 24575,'909'35'0,"11"25"0,-788-51 0,170 35 0,-51-3 0,-65-18 0,-97-11 0,143 3 0,190-14 0,149-4 0,-210-31 0,-174-5 0,-161 34 0,0-2 0,0 0 0,32-15 0,-23 9 0,56-21-1365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25881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Приветствие 1 мин: кто я, о чём доклад, обещание — в конце чек-лист из 5 правил и живое демо PR.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Обзор 1 мин: перечисляю 7 тем, говорю что на каждом слайде минимум текста, детали рассказываю голосом.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Git 2 мин: снапшоты, commit/branch/merge, локально всё, удалённый репозиторий — страховка. Показать скрин git 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0343C-D86B-DCA6-E184-BBE76FC6D5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8207A8-CAC8-6A16-2932-FB10398914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AE80E6-A537-6B42-7F68-405BD97013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D5F07A-3B7F-D213-D972-6B580FBAFE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1093243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7A68E7-2457-B4B6-FA92-DF0CF58DB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0A112A-9931-DEC5-28A1-552DF60682E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7ED0A6C-2649-EBD9-08AF-E2A03CFB16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3D585C-33F1-9FE5-6223-C63A945994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393134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6EC4E-D60C-CC32-A613-6F1766541E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53C867-5BF3-6555-76CD-FF368DC16E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9D238-9B7A-88B7-AE25-459B2CA820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E68BD24-D6C7-80B8-A973-592AE3B8CD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8426418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3E3A89-F208-4A39-8CD3-630C912F3D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BA2BFF-0F49-5ED3-A26A-CDFC143299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435712-C74C-30BE-25A1-348D6E3FBE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43AC60-529D-B547-67E0-99BF0519D8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81037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E0DD0B-A3DA-240F-9A83-8549F1CD3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509B25-C6A1-BADB-B9FF-3FD50BB8157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E1EB91-4B00-D1C3-0D9C-13874C59D51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94AB9DC-81DC-F769-EE15-C935FC6C66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8789293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533C1E-AB69-4BC2-B6F8-171513625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2D1EBED-3E23-AC72-3A6D-FE7831E738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7657B1E-F527-CD82-291B-57B41D5D5C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4C697-A6E6-A78B-CF29-537CE78287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180543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15DAA6-488B-0D2F-3BCB-92CEE6EEC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E32F5D3-154A-6CEE-F190-EFE72969C99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FF10F25-FD78-C342-F558-2E2FC7F87E5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68EBF1-64AC-5D86-5250-C6360BFB6E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4068782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2550C9-A396-368B-6E29-A1700FE13D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F8D85-1B76-D263-BF64-BD59587F3C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97FBDF-70AA-E598-AA4B-E38E49510B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4A5FA5-B477-9990-3BC3-E36EC8FA34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152553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0AA3B0-2651-155C-2C22-87E175353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E244F0-D8A8-B763-861A-625849DBA6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A98DDF-8791-A075-8C46-F4710F28B2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Git — инструмент, GitHub/GitLab — хостинги. GitHub — экосистема, GitLab — комбайн с CI. Для курса неважно, команды одни.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678664-41E0-84CA-0C86-2D90BB8EF4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2822804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агент = цикл plan-act-observe. Умеет: issue→код→тесты→PR→деплой на stage, откат. Не умеет: ответственность. Человек жмёт merge в прод.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1.5 мин: показываю цепочку, подчёркиваю gate: прод только руками. Пример: Copilot workspace / агент в CI чинит упавший тест.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анатомия: main стабилен, работа только в ветках, hotfix — короткая ветка от main. Аналогия: main — витрина, ветки — мастерская.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ФИШКА 2 мин: кейс — команда стоит час (−500), hotfix-ветка за 20 мин возвращает прод (+200 относительно долгого простоя). Мораль: ветки экономят простой.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жизненный цикл по шагам, каждый оставляет след: issue, ветка, коммиты, PR, деплой. Пропуск шага = невидимая работа = риск.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A86C7A-5C40-80C8-07CC-4DF854E47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6A5530-8B68-7197-6B48-2D060918FE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E8640-79CF-0841-96AA-263D85C1414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агент = цикл plan-act-observe. Умеет: issue→код→тесты→PR→деплой на stage, откат. Не умеет: ответственность. Человек жмёт merge в прод.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7EFCB3-1AEE-540C-AD49-1366481004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93813395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78008E-CE98-113E-13C5-617AF35770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830952-AC60-A44C-4896-3441564D7C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C572438-7952-6C50-88C7-36A00D08634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агент = цикл plan-act-observe. Умеет: issue→код→тесты→PR→деплой на stage, откат. Не умеет: ответственность. Человек жмёт merge в прод.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CCEF2-B665-2FAB-B2C9-B331C5B2E4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27776198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34B98-8519-2033-7343-FC75BB8D3A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6047ED-A067-31D6-C3B4-EC940FEB38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E0FB2B-098A-FB12-28D5-652BA55643B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агент = цикл plan-act-observe. Умеет: issue→код→тесты→PR→деплой на stage, откат. Не умеет: ответственность. Человек жмёт merge в прод.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B44C6-61C0-50F5-1EF9-BC77E49376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246371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FB62E1-0EAC-792B-0ABC-D402C99E7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B82B10-6E98-BC8B-45C1-ED79C4811B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AB7E93-E7C4-CFC1-C2E7-B3AE458974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агент = цикл plan-act-observe. Умеет: issue→код→тесты→PR→деплой на stage, откат. Не умеет: ответственность. Человек жмёт merge в прод.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BE4B28-0247-2B6F-8E02-ABBB03E28A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006948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20FA1-9934-B8B6-A25B-DAF13EA49B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19890E-7B58-20B9-B2DF-9D2B304AD4B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AC51B2F-1CBF-C739-358F-7C219FB9B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агент = цикл plan-act-observe. Умеет: issue→код→тесты→PR→деплой на stage, откат. Не умеет: ответственность. Человек жмёт merge в прод.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9DE1D15-B075-0CED-BC83-66BBD8BDBC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7339636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424208-B903-4F30-2F5A-E4D33CDCF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7FDF83-9FF0-0C27-04F3-37DCE7CE9E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FBE778-3368-CE77-3761-B71D206AEF6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агент = цикл plan-act-observe. Умеет: issue→код→тесты→PR→деплой на stage, откат. Не умеет: ответственность. Человек жмёт merge в прод.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7C92187-6CA6-E9C5-7E34-A3B7CAC5ED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9519538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66F06-6657-1DE5-B771-84D1FB084A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02DDDE-D1B6-A0B7-21DE-1FE65F3AB3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404659-B7A8-96EF-30B0-AC6C4A66769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агент = цикл plan-act-observe. Умеет: issue→код→тесты→PR→деплой на stage, откат. Не умеет: ответственность. Человек жмёт merge в прод.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C6CA2B-FD3D-B00A-2F27-BCEDE8FEB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6351115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1.5 мин: три окружения, деплой идёт лесенкой. В dev — агент хоть каждый коммит, в prod — только после review и stage.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PR — просьба влить + место дискуссии. Хороший PR: маленький, с описанием, с зелёным CI. Кнопка merge — после двух галочек.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чек-лист ревью, правило 15 минут, approve/request changes, suggestion-фича. Тон решает: правим код, хвалим человека.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мин: конфликт — не ошибка, а встреча двух правок. Показать маркеры, правило: говорим с автором второй правки, частый pull лечит.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мин: финал-чеклист, прошу сфотографировать слайд. Каждое правило — итог одной темы.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Финал 3 мин: вопросы + живое демо: создать ветку, коммит, PR, review самому себе, merge, показать граф. Призыв: завести репозиторий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bg>
      <p:bgPr>
        <a:blipFill dpi="0" rotWithShape="1">
          <a:blip r:embed="rId2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70A1A5D-5A81-47DB-BE2C-03E0990F0D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600200"/>
            <a:ext cx="9144000" cy="1943100"/>
          </a:xfrm>
        </p:spPr>
        <p:txBody>
          <a:bodyPr anchor="b"/>
          <a:lstStyle>
            <a:lvl1pPr algn="ctr">
              <a:defRPr sz="6000">
                <a:solidFill>
                  <a:schemeClr val="bg1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D18D89D-FEB0-4064-AD3B-357BF020BC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C08CCA0-7AC9-4458-99BC-25257703BE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39985775-DA12-4519-AD4E-BF0D8B5A28A2}" type="datetimeFigureOut">
              <a:rPr lang="ru-RU" smtClean="0"/>
              <a:pPr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F7410E7-85CD-46DA-BC17-9038321382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CC549DF-D60D-41D0-9ADE-DA8EA16AD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049F1CE1-AE97-4474-A621-9FAA4F63F5A7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176655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C2F858-143C-49BF-AC24-DDE5A5694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607090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A1AEBE-8905-4864-B3FD-4CD04946E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Прямоугольник 6">
            <a:extLst>
              <a:ext uri="{FF2B5EF4-FFF2-40B4-BE49-F238E27FC236}">
                <a16:creationId xmlns:a16="http://schemas.microsoft.com/office/drawing/2014/main" id="{AA079D8C-B135-4B29-9B74-4C89FD7E531F}"/>
              </a:ext>
            </a:extLst>
          </p:cNvPr>
          <p:cNvSpPr/>
          <p:nvPr userDrawn="1"/>
        </p:nvSpPr>
        <p:spPr>
          <a:xfrm>
            <a:off x="8625840" y="6644640"/>
            <a:ext cx="3600000" cy="2133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FF0D1648-B806-40EE-B6E3-7634106F579D}"/>
              </a:ext>
            </a:extLst>
          </p:cNvPr>
          <p:cNvSpPr/>
          <p:nvPr userDrawn="1"/>
        </p:nvSpPr>
        <p:spPr>
          <a:xfrm>
            <a:off x="0" y="-22383"/>
            <a:ext cx="3600000" cy="21336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9D45F2DE-3202-46E3-A4DF-1E1F8D2367F3}"/>
              </a:ext>
            </a:extLst>
          </p:cNvPr>
          <p:cNvSpPr/>
          <p:nvPr userDrawn="1"/>
        </p:nvSpPr>
        <p:spPr>
          <a:xfrm rot="16200000">
            <a:off x="8820811" y="3139757"/>
            <a:ext cx="6492875" cy="21335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Прямоугольник 11">
            <a:extLst>
              <a:ext uri="{FF2B5EF4-FFF2-40B4-BE49-F238E27FC236}">
                <a16:creationId xmlns:a16="http://schemas.microsoft.com/office/drawing/2014/main" id="{D4E4023C-83D7-4B9B-83E0-97AB0F4AC43B}"/>
              </a:ext>
            </a:extLst>
          </p:cNvPr>
          <p:cNvSpPr/>
          <p:nvPr userDrawn="1"/>
        </p:nvSpPr>
        <p:spPr>
          <a:xfrm rot="16200000">
            <a:off x="-3139758" y="3504883"/>
            <a:ext cx="6492875" cy="213358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8047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C2F858-143C-49BF-AC24-DDE5A5694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870539" cy="1325563"/>
          </a:xfrm>
        </p:spPr>
        <p:txBody>
          <a:bodyPr/>
          <a:lstStyle>
            <a:lvl1pPr>
              <a:defRPr b="1">
                <a:solidFill>
                  <a:srgbClr val="607090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A1AEBE-8905-4864-B3FD-4CD04946E5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70539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8B632DE5-F5F2-4462-94DA-690026333B0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032750" y="0"/>
            <a:ext cx="4159250" cy="685800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3344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Прямоугольник 7">
            <a:extLst>
              <a:ext uri="{FF2B5EF4-FFF2-40B4-BE49-F238E27FC236}">
                <a16:creationId xmlns:a16="http://schemas.microsoft.com/office/drawing/2014/main" id="{81134973-9603-4EB5-B737-91F29D4CD883}"/>
              </a:ext>
            </a:extLst>
          </p:cNvPr>
          <p:cNvSpPr/>
          <p:nvPr userDrawn="1"/>
        </p:nvSpPr>
        <p:spPr>
          <a:xfrm>
            <a:off x="563880" y="428043"/>
            <a:ext cx="11155680" cy="599122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AAAB7C-7C1B-4105-BE24-F811EBB401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607090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AECA37A-4894-4A33-9EBE-8B2E350258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83A43-64E5-4616-89E6-626296516E98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230E9E2-71FB-4D16-B449-EA5254AC7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FF10A82-3FA8-48BC-A562-4BDCC940C2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EEB69BD-07F3-416C-B560-DF49FE6E3236}" type="slidenum">
              <a:rPr lang="ru-RU" smtClean="0"/>
              <a:t>‹#›</a:t>
            </a:fld>
            <a:endParaRPr lang="ru-RU"/>
          </a:p>
        </p:txBody>
      </p:sp>
      <p:sp>
        <p:nvSpPr>
          <p:cNvPr id="10" name="Рисунок 9">
            <a:extLst>
              <a:ext uri="{FF2B5EF4-FFF2-40B4-BE49-F238E27FC236}">
                <a16:creationId xmlns:a16="http://schemas.microsoft.com/office/drawing/2014/main" id="{F0D9FAC9-46ED-4B2F-8516-B63FF235431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38200" y="2301875"/>
            <a:ext cx="4895129" cy="1568450"/>
          </a:xfrm>
        </p:spPr>
        <p:txBody>
          <a:bodyPr/>
          <a:lstStyle/>
          <a:p>
            <a:endParaRPr lang="ru-RU"/>
          </a:p>
        </p:txBody>
      </p:sp>
      <p:sp>
        <p:nvSpPr>
          <p:cNvPr id="21" name="Текст 14">
            <a:extLst>
              <a:ext uri="{FF2B5EF4-FFF2-40B4-BE49-F238E27FC236}">
                <a16:creationId xmlns:a16="http://schemas.microsoft.com/office/drawing/2014/main" id="{4413139B-1729-455B-B830-4DAB12D9B25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458672" y="4428023"/>
            <a:ext cx="4879887" cy="1355725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2" name="Текст 14">
            <a:extLst>
              <a:ext uri="{FF2B5EF4-FFF2-40B4-BE49-F238E27FC236}">
                <a16:creationId xmlns:a16="http://schemas.microsoft.com/office/drawing/2014/main" id="{222B09F7-7246-4274-A513-9BEACBF61E15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853441" y="4428022"/>
            <a:ext cx="4879888" cy="1355725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2" name="Рисунок 9">
            <a:extLst>
              <a:ext uri="{FF2B5EF4-FFF2-40B4-BE49-F238E27FC236}">
                <a16:creationId xmlns:a16="http://schemas.microsoft.com/office/drawing/2014/main" id="{4B61BE1B-0619-47D5-8D00-1DBE9B7F40B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458672" y="2320617"/>
            <a:ext cx="4940847" cy="1568450"/>
          </a:xfrm>
        </p:spPr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68875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ользовательский маке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914E300-70A9-4046-B13A-C580CDF08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>
                <a:solidFill>
                  <a:srgbClr val="607090"/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E2941CF8-4508-43CA-BA33-C0B9ED7532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F7B9934-7384-4A83-8B0E-FFF486DDF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A4F36D14-7448-4ACB-B1EC-DDDAAA955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3438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C2F858-143C-49BF-AC24-DDE5A56942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CA1AEBE-8905-4864-B3FD-4CD04946E5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728163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6F616B-C814-43CB-9D66-2ACCE175F2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8AE93A1-6738-46E4-8F22-EE921A9839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C78392C-C9F7-4DEF-AA81-542C2AAC7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00A34EB-7EF1-4575-A605-E6075A6358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F6B72C-E973-4717-9B32-EB861DCB2E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487194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9AC03E-CC96-46B4-8F06-809941B60B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AED83CB0-A9EB-4FCC-AFF1-9C0719455B3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2A519CA-8C32-464E-AB8C-C7DAE493BF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9389CDC-954B-4F3C-8708-20D835E735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021DA71-9B62-4B5B-9FC5-8A2FE4CE5A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BC5407C-33E1-4753-B9AC-F00DBA808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40741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D663584-63A5-4369-B563-05FB35552D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8BDB9A-93BD-4EBA-9434-1716F89768E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C6B4D10-58E3-4843-B773-ACE304291F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F791276-15DC-4AAA-A29A-7294AAED515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D984DE98-0C02-460E-AEB8-1FFCF6EE59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4AE545B8-BE5D-416A-A9C4-DD94213835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03D84F0-63EB-4F1F-A304-21FC57730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56BA2A66-252D-4BBD-AD7E-3C84EC9585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79859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6A3F95C-774F-4E30-AE17-04AC0612DF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7A740606-3AD8-42ED-B129-A3DEC06BC5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F47C616E-EC5D-4161-B871-4DBFA23F1B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017A186C-6BE5-484A-94F6-B5CFB1FB3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952192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84059D37-F92B-4726-A34B-164AC46F6B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5EB8A300-DCC2-4DBC-89F3-19460679B6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AE01FBC-E1B1-44CF-B5F4-B0621F58BA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778772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0CDE81A-B789-490D-9823-1DCB79555C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4E3DE41-335B-4255-BD1B-1BD5FD7691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1CDC965-EE27-49DE-926C-3E4E5F353E3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187F107-3B06-47AE-890B-4028A5F722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4E7A224-216B-43E1-A95E-10F95BB0FD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5BF9C8F-012F-410C-9624-42ADB56B09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738146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B7FA0CA-376B-46DC-813B-5E5FBFAAC0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F1EBA494-E82E-4757-A3C0-955EA65D11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3117C38-1525-4DAA-A6A8-79732457CC9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0CF361C5-F126-4C0B-AE3A-2CBA980EFC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F4F4485-29FD-4F98-96FC-E5D8DCB98A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42FB67-03FB-449E-89B5-DF67F63DAA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17681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575B5E7-60F9-464C-B174-D06589C57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D28484D1-D333-4AE1-BBFC-CD1DEC20F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4A59D6A-B58D-4E95-A396-200C9B9BC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EB437D5-797B-49CA-AD3B-BE3CAF57E7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A1F4BFD-DCAB-4FA8-B42C-658D6832F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586913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0DD7D349-5ABD-40CA-91CD-9AC19B7C01A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F28E4FE5-4CB9-457C-9776-A6FC25BBA2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DF420E-C006-48BA-ACD0-A009889F44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36841BA-4A5C-4F80-82B2-3FE13D1DF5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B5348BA-A8D9-4752-9849-D1F480476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071697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hyperlink" Target="https://presentation-creation.ru/" TargetMode="Externa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569195-B136-450A-9EBB-E4D32554B9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C56AFD3-762E-431D-8169-48E9431F22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0B0A7F1-90CF-4B8D-9FE0-9796384F4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9985775-DA12-4519-AD4E-BF0D8B5A28A2}" type="datetimeFigureOut">
              <a:rPr lang="ru-RU" smtClean="0"/>
              <a:t>17.09.2026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22E4D6C-F1D3-4A14-8D0D-B4CCD0AC81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DACE525-741D-45DF-830F-DE1754B0747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49F1CE1-AE97-4474-A621-9FAA4F63F5A7}" type="slidenum">
              <a:rPr lang="ru-RU" smtClean="0"/>
              <a:t>‹#›</a:t>
            </a:fld>
            <a:endParaRPr lang="ru-RU"/>
          </a:p>
        </p:txBody>
      </p:sp>
      <p:pic>
        <p:nvPicPr>
          <p:cNvPr id="7" name="Рисунок 6">
            <a:hlinkClick r:id="rId17"/>
            <a:extLst>
              <a:ext uri="{FF2B5EF4-FFF2-40B4-BE49-F238E27FC236}">
                <a16:creationId xmlns:a16="http://schemas.microsoft.com/office/drawing/2014/main" id="{5B02C175-E080-45D1-9C7B-D1AA06E5A429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-1194000" y="367393"/>
            <a:ext cx="757762" cy="7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67268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2" r:id="rId3"/>
    <p:sldLayoutId id="2147483663" r:id="rId4"/>
    <p:sldLayoutId id="2147483661" r:id="rId5"/>
    <p:sldLayoutId id="2147483660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0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2.png"/><Relationship Id="rId4" Type="http://schemas.openxmlformats.org/officeDocument/2006/relationships/customXml" Target="../ink/ink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8.xml"/><Relationship Id="rId6" Type="http://schemas.openxmlformats.org/officeDocument/2006/relationships/customXml" Target="../ink/ink3.xml"/><Relationship Id="rId5" Type="http://schemas.openxmlformats.org/officeDocument/2006/relationships/image" Target="../media/image14.png"/><Relationship Id="rId4" Type="http://schemas.openxmlformats.org/officeDocument/2006/relationships/customXml" Target="../ink/ink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0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0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0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0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0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1.png"/><Relationship Id="rId4" Type="http://schemas.openxmlformats.org/officeDocument/2006/relationships/customXml" Target="../ink/ink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ustomXml" Target="../ink/ink5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5.png"/><Relationship Id="rId4" Type="http://schemas.openxmlformats.org/officeDocument/2006/relationships/customXml" Target="../ink/ink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6.png"/><Relationship Id="rId4" Type="http://schemas.openxmlformats.org/officeDocument/2006/relationships/customXml" Target="../ink/ink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ustomXml" Target="../ink/ink8.xml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customXml" Target="../ink/ink9.xml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28.png"/><Relationship Id="rId4" Type="http://schemas.openxmlformats.org/officeDocument/2006/relationships/image" Target="../media/image26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0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0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0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0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0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0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3764" y="1600200"/>
            <a:ext cx="9144000" cy="1943100"/>
          </a:xfrm>
        </p:spPr>
        <p:txBody>
          <a:bodyPr>
            <a:normAutofit/>
          </a:bodyPr>
          <a:lstStyle/>
          <a:p>
            <a:r>
              <a:rPr lang="en-US" sz="12000" dirty="0">
                <a:highlight>
                  <a:srgbClr val="000000"/>
                </a:highlight>
                <a:latin typeface="Calibri Light"/>
              </a:rPr>
              <a:t>Git</a:t>
            </a:r>
            <a:endParaRPr sz="12000" dirty="0">
              <a:highlight>
                <a:srgbClr val="000000"/>
              </a:highlight>
              <a:latin typeface="Calibri Light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85614" y="3980825"/>
            <a:ext cx="9144000" cy="1655762"/>
          </a:xfrm>
        </p:spPr>
        <p:txBody>
          <a:bodyPr/>
          <a:lstStyle/>
          <a:p>
            <a:r>
              <a:rPr dirty="0" err="1">
                <a:highlight>
                  <a:srgbClr val="000000"/>
                </a:highlight>
              </a:rPr>
              <a:t>Как</a:t>
            </a:r>
            <a:r>
              <a:rPr dirty="0">
                <a:highlight>
                  <a:srgbClr val="000000"/>
                </a:highlight>
              </a:rPr>
              <a:t> </a:t>
            </a:r>
            <a:r>
              <a:rPr dirty="0" err="1">
                <a:highlight>
                  <a:srgbClr val="000000"/>
                </a:highlight>
              </a:rPr>
              <a:t>не</a:t>
            </a:r>
            <a:r>
              <a:rPr dirty="0">
                <a:highlight>
                  <a:srgbClr val="000000"/>
                </a:highlight>
              </a:rPr>
              <a:t> </a:t>
            </a:r>
            <a:r>
              <a:rPr dirty="0" err="1">
                <a:highlight>
                  <a:srgbClr val="000000"/>
                </a:highlight>
              </a:rPr>
              <a:t>лежать</a:t>
            </a:r>
            <a:r>
              <a:rPr dirty="0">
                <a:highlight>
                  <a:srgbClr val="000000"/>
                </a:highlight>
              </a:rPr>
              <a:t> в </a:t>
            </a:r>
            <a:r>
              <a:rPr dirty="0" err="1">
                <a:highlight>
                  <a:srgbClr val="000000"/>
                </a:highlight>
              </a:rPr>
              <a:t>простое</a:t>
            </a:r>
            <a:r>
              <a:rPr dirty="0">
                <a:highlight>
                  <a:srgbClr val="000000"/>
                </a:highlight>
              </a:rPr>
              <a:t>  •  7 </a:t>
            </a:r>
            <a:r>
              <a:rPr dirty="0" err="1">
                <a:highlight>
                  <a:srgbClr val="000000"/>
                </a:highlight>
              </a:rPr>
              <a:t>тем</a:t>
            </a:r>
            <a:r>
              <a:rPr dirty="0">
                <a:highlight>
                  <a:srgbClr val="000000"/>
                </a:highlight>
              </a:rPr>
              <a:t> </a:t>
            </a:r>
            <a:r>
              <a:rPr dirty="0" err="1">
                <a:highlight>
                  <a:srgbClr val="000000"/>
                </a:highlight>
              </a:rPr>
              <a:t>за</a:t>
            </a:r>
            <a:r>
              <a:rPr dirty="0">
                <a:highlight>
                  <a:srgbClr val="000000"/>
                </a:highlight>
              </a:rPr>
              <a:t> 20 </a:t>
            </a:r>
            <a:r>
              <a:rPr dirty="0" err="1">
                <a:highlight>
                  <a:srgbClr val="000000"/>
                </a:highlight>
              </a:rPr>
              <a:t>минут</a:t>
            </a:r>
            <a:endParaRPr dirty="0">
              <a:highlight>
                <a:srgbClr val="000000"/>
              </a:highlight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229739" y="4300875"/>
            <a:ext cx="10881360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0" dirty="0">
                <a:solidFill>
                  <a:srgbClr val="FF0000"/>
                </a:solidFill>
                <a:latin typeface="Calibri"/>
              </a:rPr>
              <a:t>Git  •  GitHub / GitLab  •  </a:t>
            </a:r>
            <a:r>
              <a:rPr sz="3000" b="0" dirty="0" err="1">
                <a:solidFill>
                  <a:srgbClr val="FF0000"/>
                </a:solidFill>
                <a:latin typeface="Calibri"/>
              </a:rPr>
              <a:t>ветки</a:t>
            </a:r>
            <a:r>
              <a:rPr sz="3000" b="0" dirty="0">
                <a:solidFill>
                  <a:srgbClr val="FF0000"/>
                </a:solidFill>
                <a:latin typeface="Calibri"/>
              </a:rPr>
              <a:t>  •  PR  •  review  •  </a:t>
            </a:r>
            <a:r>
              <a:rPr sz="3000" b="0" dirty="0" err="1">
                <a:solidFill>
                  <a:srgbClr val="FF0000"/>
                </a:solidFill>
                <a:latin typeface="Calibri"/>
              </a:rPr>
              <a:t>конфликты</a:t>
            </a:r>
            <a:r>
              <a:rPr sz="3000" b="0" dirty="0">
                <a:solidFill>
                  <a:srgbClr val="FF0000"/>
                </a:solidFill>
                <a:latin typeface="Calibri"/>
              </a:rPr>
              <a:t>  •  ИИ-</a:t>
            </a:r>
            <a:r>
              <a:rPr sz="3000" b="0" dirty="0" err="1">
                <a:solidFill>
                  <a:srgbClr val="FF0000"/>
                </a:solidFill>
                <a:latin typeface="Calibri"/>
              </a:rPr>
              <a:t>деплой</a:t>
            </a:r>
            <a:endParaRPr sz="3000" b="0" dirty="0">
              <a:solidFill>
                <a:srgbClr val="FF0000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2853583" cy="1325563"/>
          </a:xfrm>
        </p:spPr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PLAN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4102692" y="254995"/>
            <a:ext cx="8006697" cy="5478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1. Git, GitHub, GitLab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2. ИИ-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агенты</a:t>
            </a:r>
            <a:r>
              <a:rPr sz="4000" dirty="0">
                <a:solidFill>
                  <a:srgbClr val="333333"/>
                </a:solidFill>
                <a:latin typeface="Calibri"/>
              </a:rPr>
              <a:t> в 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деплое</a:t>
            </a:r>
            <a:endParaRPr sz="4000" dirty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3. 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Ветки</a:t>
            </a:r>
            <a:r>
              <a:rPr sz="4000" dirty="0">
                <a:solidFill>
                  <a:srgbClr val="333333"/>
                </a:solidFill>
                <a:latin typeface="Calibri"/>
              </a:rPr>
              <a:t>: main 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свят</a:t>
            </a:r>
            <a:endParaRPr sz="4000" dirty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4. 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Деплой</a:t>
            </a:r>
            <a:r>
              <a:rPr sz="4000" dirty="0">
                <a:solidFill>
                  <a:srgbClr val="333333"/>
                </a:solidFill>
                <a:latin typeface="Calibri"/>
              </a:rPr>
              <a:t> 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фичи</a:t>
            </a:r>
            <a:r>
              <a:rPr sz="4000" dirty="0">
                <a:solidFill>
                  <a:srgbClr val="333333"/>
                </a:solidFill>
                <a:latin typeface="Calibri"/>
              </a:rPr>
              <a:t>: dev → prod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5. Pull Request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6. Code review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4000" dirty="0">
                <a:solidFill>
                  <a:srgbClr val="333333"/>
                </a:solidFill>
                <a:latin typeface="Calibri"/>
              </a:rPr>
              <a:t>7. Merge-</a:t>
            </a:r>
            <a:r>
              <a:rPr sz="4000" dirty="0" err="1">
                <a:solidFill>
                  <a:srgbClr val="333333"/>
                </a:solidFill>
                <a:latin typeface="Calibri"/>
              </a:rPr>
              <a:t>конфликты</a:t>
            </a:r>
            <a:endParaRPr sz="4000" dirty="0">
              <a:solidFill>
                <a:srgbClr val="333333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Git = снапшоты, а не файлы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383280" cy="164592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commit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точка сохранения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164592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branch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параллельная ветка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463040"/>
            <a:ext cx="3383280" cy="164592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merge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склейка в main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A56C9D3A-CF86-9AF8-941D-F02AE9B33F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5285" y="3220159"/>
            <a:ext cx="5401429" cy="3086531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GitHub vs GitLab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5" name="Rounded Rectangle 4"/>
          <p:cNvSpPr/>
          <p:nvPr/>
        </p:nvSpPr>
        <p:spPr>
          <a:xfrm>
            <a:off x="640080" y="1463040"/>
            <a:ext cx="5212080" cy="137160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GitHub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стандарт + 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017520"/>
            <a:ext cx="5212080" cy="764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600" dirty="0">
                <a:solidFill>
                  <a:srgbClr val="333333"/>
                </a:solidFill>
                <a:latin typeface="Calibri"/>
              </a:rPr>
              <a:t>Actions, PR,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Codespaces</a:t>
            </a:r>
            <a:endParaRPr sz="1600" dirty="0">
              <a:solidFill>
                <a:srgbClr val="333333"/>
              </a:solidFill>
              <a:latin typeface="Calibri"/>
            </a:endParaRP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600" dirty="0" err="1">
                <a:solidFill>
                  <a:srgbClr val="333333"/>
                </a:solidFill>
                <a:latin typeface="Calibri"/>
              </a:rPr>
              <a:t>сообщество</a:t>
            </a:r>
            <a:r>
              <a:rPr sz="1600" dirty="0">
                <a:solidFill>
                  <a:srgbClr val="333333"/>
                </a:solidFill>
                <a:latin typeface="Calibri"/>
              </a:rPr>
              <a:t>, open source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6960" y="1448085"/>
            <a:ext cx="5212080" cy="137160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GitLab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всё в одном + CI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41720" y="3002565"/>
            <a:ext cx="5212080" cy="764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600" dirty="0" err="1">
                <a:solidFill>
                  <a:srgbClr val="333333"/>
                </a:solidFill>
                <a:latin typeface="Calibri"/>
              </a:rPr>
              <a:t>встроенный</a:t>
            </a:r>
            <a:r>
              <a:rPr sz="1600" dirty="0">
                <a:solidFill>
                  <a:srgbClr val="333333"/>
                </a:solidFill>
                <a:latin typeface="Calibri"/>
              </a:rPr>
              <a:t> CI/CD, MR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1600" dirty="0">
                <a:solidFill>
                  <a:srgbClr val="333333"/>
                </a:solidFill>
                <a:latin typeface="Calibri"/>
              </a:rPr>
              <a:t> self-hosted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из</a:t>
            </a:r>
            <a:r>
              <a:rPr sz="1600" dirty="0">
                <a:solidFill>
                  <a:srgbClr val="333333"/>
                </a:solidFill>
                <a:latin typeface="Calibri"/>
              </a:rPr>
              <a:t> </a:t>
            </a:r>
            <a:r>
              <a:rPr sz="1600" dirty="0" err="1">
                <a:solidFill>
                  <a:srgbClr val="333333"/>
                </a:solidFill>
                <a:latin typeface="Calibri"/>
              </a:rPr>
              <a:t>коробки</a:t>
            </a:r>
            <a:endParaRPr sz="1600" dirty="0">
              <a:solidFill>
                <a:srgbClr val="333333"/>
              </a:solidFill>
              <a:latin typeface="Calibri"/>
            </a:endParaRPr>
          </a:p>
        </p:txBody>
      </p:sp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2A1F700-5B66-135F-45CD-64BD6B92DF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523" y="4417662"/>
            <a:ext cx="11240368" cy="189423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23714-E4FD-11EC-BCBD-78ADC5F134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339939-4067-235C-2A13-A2207BAEF0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Git ignores?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8585809-3BEA-F4B6-EE4B-00995EAF2E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343" y="1561429"/>
            <a:ext cx="8253752" cy="4635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18111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C569-D012-3230-D8CF-AA5D8B4934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D2240-81CE-AE64-8172-A1511430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0CD81EE-4AB6-2AE9-9935-718DC4F443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734" y="1690688"/>
            <a:ext cx="8964276" cy="4477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455290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4A78-673F-A954-BE06-EC2F64BBF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8A0E7-C857-096D-4FDA-A3B8E34323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5DE4C32-D3CE-234E-8631-1AAD223699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949" y="1437996"/>
            <a:ext cx="11469869" cy="378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46902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4CE77-C026-2F27-0FEB-E6B8F2B5E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04BFF-7D06-7AA6-D117-E71F3063AF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B63477F-EACA-337F-B235-284795BF7A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104" y="1620241"/>
            <a:ext cx="12677284" cy="372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980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D4246A-A2CB-DA39-7291-B5658EF6CF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F3927-5C2E-66FF-DC8D-60D6019293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/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merge conflict . 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Там же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ридми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691E10F-EF0B-7EDC-42FF-E458D984DC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1208" y="1456073"/>
            <a:ext cx="9078592" cy="454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4919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A77A22-7C17-581A-5F7F-E60D412DC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A368E-2045-73FB-7643-5D105B83B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/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merge conflict . 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Там же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ридми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E11219A-1A3D-03EC-DA24-A5E42D481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67" y="1273205"/>
            <a:ext cx="12192000" cy="5918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98724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00F368-61F7-2B31-9D59-EA66B16D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521961-0055-2F3F-B2A7-A0B88B1BB3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/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merge conflict . 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Там же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ридми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AAA165B-3747-00B7-A47B-CCC2FCA75C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66529"/>
            <a:ext cx="12192000" cy="5463186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21F9AAE0-E8B6-FBC1-5950-BB33CF41D446}"/>
                  </a:ext>
                </a:extLst>
              </p14:cNvPr>
              <p14:cNvContentPartPr/>
              <p14:nvPr/>
            </p14:nvContentPartPr>
            <p14:xfrm>
              <a:off x="9928625" y="3460465"/>
              <a:ext cx="900720" cy="50580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21F9AAE0-E8B6-FBC1-5950-BB33CF41D446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865985" y="3397465"/>
                <a:ext cx="1026360" cy="6314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9822393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40C11-5F6F-778A-0EA7-3797600D36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54DBC-F154-EBF6-E5A0-9EA71C8CC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/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merge conflict . 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Там же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ридми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8FA98CC6-9A70-237E-5A01-BF74DA8EAF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11095"/>
            <a:ext cx="11681801" cy="6746905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0E33EF00-88AF-0C52-842D-0D72FBE8EBA0}"/>
                  </a:ext>
                </a:extLst>
              </p14:cNvPr>
              <p14:cNvContentPartPr/>
              <p14:nvPr/>
            </p14:nvContentPartPr>
            <p14:xfrm>
              <a:off x="2332625" y="6382696"/>
              <a:ext cx="1550520" cy="33444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0E33EF00-88AF-0C52-842D-0D72FBE8EBA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269985" y="6320056"/>
                <a:ext cx="1676160" cy="46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6">
            <p14:nvContentPartPr>
              <p14:cNvPr id="7" name="Рукописный ввод 6">
                <a:extLst>
                  <a:ext uri="{FF2B5EF4-FFF2-40B4-BE49-F238E27FC236}">
                    <a16:creationId xmlns:a16="http://schemas.microsoft.com/office/drawing/2014/main" id="{BEC8874F-6A68-3B85-8CF0-CF57F54BEF45}"/>
                  </a:ext>
                </a:extLst>
              </p14:cNvPr>
              <p14:cNvContentPartPr/>
              <p14:nvPr/>
            </p14:nvContentPartPr>
            <p14:xfrm>
              <a:off x="9491585" y="4885096"/>
              <a:ext cx="942840" cy="661320"/>
            </p14:xfrm>
          </p:contentPart>
        </mc:Choice>
        <mc:Fallback>
          <p:pic>
            <p:nvPicPr>
              <p:cNvPr id="7" name="Рукописный ввод 6">
                <a:extLst>
                  <a:ext uri="{FF2B5EF4-FFF2-40B4-BE49-F238E27FC236}">
                    <a16:creationId xmlns:a16="http://schemas.microsoft.com/office/drawing/2014/main" id="{BEC8874F-6A68-3B85-8CF0-CF57F54BEF45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9428945" y="4822096"/>
                <a:ext cx="1068480" cy="7869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2612936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929C59-215B-F4E7-AD91-C639CA718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491A07-937A-10A6-4B37-3DE8A8BD3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Commit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/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merge conflict . 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Там же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ридми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. </a:t>
            </a:r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GitHub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8A655B0D-4994-326A-F718-7044AC699B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354080"/>
            <a:ext cx="12192000" cy="620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25591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ИИ-агенты деплоят сами?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2560320" cy="173736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Код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пишет фичу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383280" y="1463040"/>
            <a:ext cx="2560320" cy="173736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Тест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гоняет тесты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26480" y="1463040"/>
            <a:ext cx="2560320" cy="173736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Деплой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катит на stage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869680" y="1463040"/>
            <a:ext cx="2560320" cy="173736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Откат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отменяет при аварии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566160"/>
            <a:ext cx="10881360" cy="246888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3  →  лог ИИ-агента: сгенерировал PR + прошёл CI (см. Ш3)</a:t>
            </a:r>
          </a:p>
        </p:txBody>
      </p:sp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67843835-F3FC-868C-DDA8-1A04B1495D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70" y="3429000"/>
            <a:ext cx="12069859" cy="402011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Агент: план → код → прод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828800"/>
            <a:ext cx="2411730" cy="173736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1. План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читает issue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033522" y="246888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63290" y="1828800"/>
            <a:ext cx="2411730" cy="1737360"/>
          </a:xfrm>
          <a:prstGeom prst="roundRect">
            <a:avLst/>
          </a:prstGeom>
          <a:solidFill>
            <a:srgbClr val="629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2. Код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меняет ветку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856732" y="246888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6500" y="1828800"/>
            <a:ext cx="2411730" cy="173736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3. Проверка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тесты + review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79942" y="246888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09710" y="1828800"/>
            <a:ext cx="2411730" cy="173736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4. Деплой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только в stage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233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dirty="0" err="1">
                <a:solidFill>
                  <a:srgbClr val="242852"/>
                </a:solidFill>
                <a:latin typeface="Calibri"/>
              </a:rPr>
              <a:t>человек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жмёт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кнопку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в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прод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 • 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агент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готовит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,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не</a:t>
            </a:r>
            <a:r>
              <a:rPr sz="1800" b="1" dirty="0">
                <a:solidFill>
                  <a:srgbClr val="242852"/>
                </a:solidFill>
                <a:latin typeface="Calibri"/>
              </a:rPr>
              <a:t> </a:t>
            </a:r>
            <a:r>
              <a:rPr sz="1800" b="1" dirty="0" err="1">
                <a:solidFill>
                  <a:srgbClr val="242852"/>
                </a:solidFill>
                <a:latin typeface="Calibri"/>
              </a:rPr>
              <a:t>решает</a:t>
            </a:r>
            <a:endParaRPr sz="1800" b="1" dirty="0">
              <a:solidFill>
                <a:srgbClr val="242852"/>
              </a:solidFill>
              <a:latin typeface="Calibri"/>
            </a:endParaRPr>
          </a:p>
        </p:txBody>
      </p:sp>
      <p:sp>
        <p:nvSpPr>
          <p:cNvPr id="11" name="Rounded Rectangle 10"/>
          <p:cNvSpPr/>
          <p:nvPr/>
        </p:nvSpPr>
        <p:spPr>
          <a:xfrm>
            <a:off x="640080" y="4937760"/>
            <a:ext cx="10881360" cy="109728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lang="ru-RU" sz="4500" b="1" dirty="0">
                <a:solidFill>
                  <a:srgbClr val="242852"/>
                </a:solidFill>
                <a:latin typeface="Calibri"/>
              </a:rPr>
              <a:t>ОН УМНЫЙ, НО ДОВЕРЯТЬ ЕМУ НЕ СТОИТ</a:t>
            </a:r>
            <a:endParaRPr sz="4500" b="1" dirty="0">
              <a:solidFill>
                <a:srgbClr val="242852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main — священен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383280" cy="155448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main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всегда работает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155448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feature/*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новая фича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463040"/>
            <a:ext cx="3383280" cy="155448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hotfix/*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срочный фикс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383280"/>
            <a:ext cx="10881360" cy="265176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4  →  граф веток: main + 2 feature + hotfix (см. Ш4)</a:t>
            </a:r>
            <a:br/>
            <a:r>
              <a:t>команды: git branch / git switch -c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B0D299E-A6FA-AEF3-67D2-2DEE4DE845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0866" y="3522966"/>
            <a:ext cx="10548820" cy="1783972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 dirty="0">
                <a:solidFill>
                  <a:srgbClr val="242852"/>
                </a:solidFill>
                <a:latin typeface="Calibri Light"/>
              </a:rPr>
              <a:t>200 </a:t>
            </a:r>
            <a:r>
              <a:rPr sz="4000" b="1" dirty="0" err="1">
                <a:solidFill>
                  <a:srgbClr val="242852"/>
                </a:solidFill>
                <a:latin typeface="Calibri Light"/>
              </a:rPr>
              <a:t>заработать</a:t>
            </a:r>
            <a:r>
              <a:rPr sz="4000" b="1" dirty="0">
                <a:solidFill>
                  <a:srgbClr val="242852"/>
                </a:solidFill>
                <a:latin typeface="Calibri Light"/>
              </a:rPr>
              <a:t>, 500 </a:t>
            </a:r>
            <a:r>
              <a:rPr sz="4000" b="1" dirty="0" err="1">
                <a:solidFill>
                  <a:srgbClr val="242852"/>
                </a:solidFill>
                <a:latin typeface="Calibri Light"/>
              </a:rPr>
              <a:t>потерять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EB62F9C-5E38-5929-4744-020A645A20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930" y="1783169"/>
            <a:ext cx="11395988" cy="12505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31DB2CE-0A75-1070-8519-D182D4A11BC4}"/>
              </a:ext>
            </a:extLst>
          </p:cNvPr>
          <p:cNvSpPr txBox="1"/>
          <p:nvPr/>
        </p:nvSpPr>
        <p:spPr>
          <a:xfrm>
            <a:off x="512747" y="4076891"/>
            <a:ext cx="10291273" cy="7848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4500" b="1" dirty="0">
                <a:solidFill>
                  <a:srgbClr val="242852"/>
                </a:solidFill>
                <a:latin typeface="Calibri"/>
              </a:rPr>
              <a:t>Main </a:t>
            </a:r>
            <a:r>
              <a:rPr lang="ru-RU" sz="4500" b="1" dirty="0">
                <a:solidFill>
                  <a:srgbClr val="242852"/>
                </a:solidFill>
                <a:latin typeface="Calibri"/>
              </a:rPr>
              <a:t>лег -</a:t>
            </a:r>
            <a:r>
              <a:rPr lang="en-US" sz="4500" b="1" dirty="0">
                <a:solidFill>
                  <a:srgbClr val="242852"/>
                </a:solidFill>
                <a:latin typeface="Calibri"/>
              </a:rPr>
              <a:t>&gt; </a:t>
            </a:r>
            <a:r>
              <a:rPr lang="ru-RU" sz="4500" b="1" dirty="0">
                <a:solidFill>
                  <a:srgbClr val="242852"/>
                </a:solidFill>
                <a:latin typeface="Calibri"/>
              </a:rPr>
              <a:t>вынужденный простой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3600" b="1">
                <a:solidFill>
                  <a:srgbClr val="242852"/>
                </a:solidFill>
                <a:latin typeface="Calibri Light"/>
              </a:rPr>
              <a:t>Путь фичи: идея → прод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1470660" cy="173736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Идея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issue</a:t>
            </a:r>
          </a:p>
        </p:txBody>
      </p:sp>
      <p:sp>
        <p:nvSpPr>
          <p:cNvPr id="4" name="Right Arrow 3"/>
          <p:cNvSpPr/>
          <p:nvPr/>
        </p:nvSpPr>
        <p:spPr>
          <a:xfrm>
            <a:off x="209245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2522220" y="1554480"/>
            <a:ext cx="1470660" cy="173736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Ветка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feature/*</a:t>
            </a:r>
          </a:p>
        </p:txBody>
      </p:sp>
      <p:sp>
        <p:nvSpPr>
          <p:cNvPr id="6" name="Right Arrow 5"/>
          <p:cNvSpPr/>
          <p:nvPr/>
        </p:nvSpPr>
        <p:spPr>
          <a:xfrm>
            <a:off x="397459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404360" y="1554480"/>
            <a:ext cx="1470660" cy="173736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Код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commit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85673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6286500" y="1554480"/>
            <a:ext cx="1470660" cy="173736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PR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773887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8168640" y="1554480"/>
            <a:ext cx="1470660" cy="1737360"/>
          </a:xfrm>
          <a:prstGeom prst="roundRect">
            <a:avLst/>
          </a:prstGeom>
          <a:solidFill>
            <a:srgbClr val="629DD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Stage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проверка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962101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10050780" y="1554480"/>
            <a:ext cx="1470660" cy="173736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Прод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merge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49039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42852"/>
                </a:solidFill>
                <a:latin typeface="Calibri"/>
              </a:rPr>
              <a:t>ни один шаг не пропускаем  •  каждый шаг виден в GitHub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1EA3D-91E7-E06F-5592-5693F8E888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749563-84B5-811A-83C4-D21B485F4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PR = PULL REQUEST</a:t>
            </a:r>
            <a:r>
              <a:rPr sz="4000" b="1" dirty="0">
                <a:solidFill>
                  <a:srgbClr val="242852"/>
                </a:solidFill>
                <a:latin typeface="Calibri Light"/>
              </a:rPr>
              <a:t>?</a:t>
            </a: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1E16626-37F1-C85A-98BA-A8F6B8B4891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5114"/>
          <a:stretch>
            <a:fillRect/>
          </a:stretch>
        </p:blipFill>
        <p:spPr>
          <a:xfrm>
            <a:off x="0" y="1452784"/>
            <a:ext cx="12192000" cy="4170349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11" name="Рукописный ввод 10">
                <a:extLst>
                  <a:ext uri="{FF2B5EF4-FFF2-40B4-BE49-F238E27FC236}">
                    <a16:creationId xmlns:a16="http://schemas.microsoft.com/office/drawing/2014/main" id="{CDBDFAF1-9E9E-B202-84E8-55AC295C7572}"/>
                  </a:ext>
                </a:extLst>
              </p14:cNvPr>
              <p14:cNvContentPartPr/>
              <p14:nvPr/>
            </p14:nvContentPartPr>
            <p14:xfrm>
              <a:off x="1811345" y="5322496"/>
              <a:ext cx="10158840" cy="105120"/>
            </p14:xfrm>
          </p:contentPart>
        </mc:Choice>
        <mc:Fallback>
          <p:pic>
            <p:nvPicPr>
              <p:cNvPr id="11" name="Рукописный ввод 10">
                <a:extLst>
                  <a:ext uri="{FF2B5EF4-FFF2-40B4-BE49-F238E27FC236}">
                    <a16:creationId xmlns:a16="http://schemas.microsoft.com/office/drawing/2014/main" id="{CDBDFAF1-9E9E-B202-84E8-55AC295C757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1748705" y="5259856"/>
                <a:ext cx="10284480" cy="2307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766306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1872F-9129-7F11-F09E-35C00EB87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A2270-40FB-BCD3-7201-287464ECB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PR = PULL REQUEST</a:t>
            </a:r>
            <a:r>
              <a:rPr sz="4000" b="1" dirty="0">
                <a:solidFill>
                  <a:srgbClr val="242852"/>
                </a:solidFill>
                <a:latin typeface="Calibri Light"/>
              </a:rPr>
              <a:t>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11" name="Рукописный ввод 10">
                <a:extLst>
                  <a:ext uri="{FF2B5EF4-FFF2-40B4-BE49-F238E27FC236}">
                    <a16:creationId xmlns:a16="http://schemas.microsoft.com/office/drawing/2014/main" id="{2EFFC39F-5B76-E107-4F6F-AB1312DEA579}"/>
                  </a:ext>
                </a:extLst>
              </p14:cNvPr>
              <p14:cNvContentPartPr/>
              <p14:nvPr/>
            </p14:nvContentPartPr>
            <p14:xfrm>
              <a:off x="1811345" y="5322496"/>
              <a:ext cx="10158840" cy="105120"/>
            </p14:xfrm>
          </p:contentPart>
        </mc:Choice>
        <mc:Fallback>
          <p:pic>
            <p:nvPicPr>
              <p:cNvPr id="11" name="Рукописный ввод 10">
                <a:extLst>
                  <a:ext uri="{FF2B5EF4-FFF2-40B4-BE49-F238E27FC236}">
                    <a16:creationId xmlns:a16="http://schemas.microsoft.com/office/drawing/2014/main" id="{2EFFC39F-5B76-E107-4F6F-AB1312DEA579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748345" y="5259496"/>
                <a:ext cx="10284480" cy="23076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0CEE28B-B30A-8560-37F0-EE6D8A2F39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30384"/>
            <a:ext cx="12192000" cy="57329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9403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7D3F7-1D88-CDC6-9352-44F6AC7CD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665A0-8CBC-1641-B761-E8AC7AB49B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PR = PULL REQUEST</a:t>
            </a:r>
            <a:r>
              <a:rPr sz="4000" b="1" dirty="0">
                <a:solidFill>
                  <a:srgbClr val="242852"/>
                </a:solidFill>
                <a:latin typeface="Calibri Light"/>
              </a:rPr>
              <a:t>?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5A9AE8D-8C23-B801-7B5C-314B915948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15" y="2486826"/>
            <a:ext cx="12187342" cy="188862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120BAC2A-C9E2-B4B9-59D7-DCC494952A03}"/>
                  </a:ext>
                </a:extLst>
              </p14:cNvPr>
              <p14:cNvContentPartPr/>
              <p14:nvPr/>
            </p14:nvContentPartPr>
            <p14:xfrm>
              <a:off x="9750566" y="3905176"/>
              <a:ext cx="1737000" cy="8676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120BAC2A-C9E2-B4B9-59D7-DCC494952A03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87566" y="3842176"/>
                <a:ext cx="1862640" cy="212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3237559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79A64F-0D4C-0BF8-C582-D47F8BC769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A00FFE-EABA-B67C-0ED9-2A25EB9153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PR = PULL REQUEST</a:t>
            </a:r>
            <a:r>
              <a:rPr sz="4000" b="1" dirty="0">
                <a:solidFill>
                  <a:srgbClr val="242852"/>
                </a:solidFill>
                <a:latin typeface="Calibri Light"/>
              </a:rPr>
              <a:t>?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A7F3E47-6F6D-F961-94D3-C2BB83ECCB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15" y="2486826"/>
            <a:ext cx="12187342" cy="1888621"/>
          </a:xfrm>
          <a:prstGeom prst="rect">
            <a:avLst/>
          </a:prstGeom>
        </p:spPr>
      </p:pic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6C6DF0EF-7584-B0E6-2513-F9E053387094}"/>
                  </a:ext>
                </a:extLst>
              </p14:cNvPr>
              <p14:cNvContentPartPr/>
              <p14:nvPr/>
            </p14:nvContentPartPr>
            <p14:xfrm>
              <a:off x="9750566" y="3905176"/>
              <a:ext cx="1737000" cy="8676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6C6DF0EF-7584-B0E6-2513-F9E053387094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687566" y="3842176"/>
                <a:ext cx="1862640" cy="21240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9919481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E90D09-61C7-BD25-0C35-FD7CBA7895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55C38-AB23-6B1E-AE8C-251FB570E2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sz="4000" b="1" dirty="0">
                <a:solidFill>
                  <a:srgbClr val="242852"/>
                </a:solidFill>
                <a:latin typeface="Calibri Light"/>
              </a:rPr>
              <a:t>PR = PULL REQUEST</a:t>
            </a:r>
            <a:r>
              <a:rPr sz="4000" b="1" dirty="0">
                <a:solidFill>
                  <a:srgbClr val="242852"/>
                </a:solidFill>
                <a:latin typeface="Calibri Light"/>
              </a:rPr>
              <a:t>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E82B9F88-2CBE-5CEA-3295-BD97DADEA487}"/>
                  </a:ext>
                </a:extLst>
              </p14:cNvPr>
              <p14:cNvContentPartPr/>
              <p14:nvPr/>
            </p14:nvContentPartPr>
            <p14:xfrm>
              <a:off x="9750566" y="3905176"/>
              <a:ext cx="1737000" cy="8676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E82B9F88-2CBE-5CEA-3295-BD97DADEA487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87566" y="3842176"/>
                <a:ext cx="1862640" cy="212400"/>
              </a:xfrm>
              <a:prstGeom prst="rect">
                <a:avLst/>
              </a:prstGeom>
            </p:spPr>
          </p:pic>
        </mc:Fallback>
      </mc:AlternateContent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CDDDFE5-337B-EB7D-5962-E736A76DABA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690688"/>
            <a:ext cx="12192000" cy="566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3945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F13642-FB91-2C3D-70FA-BE1A999C2B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B24D2E-EE5B-025D-7D6A-D691656963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+ это замечание</a:t>
            </a:r>
            <a:r>
              <a:rPr sz="4000" b="1" dirty="0">
                <a:solidFill>
                  <a:srgbClr val="242852"/>
                </a:solidFill>
                <a:latin typeface="Calibri Light"/>
              </a:rPr>
              <a:t>?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3">
            <p14:nvContentPartPr>
              <p14:cNvPr id="6" name="Рукописный ввод 5">
                <a:extLst>
                  <a:ext uri="{FF2B5EF4-FFF2-40B4-BE49-F238E27FC236}">
                    <a16:creationId xmlns:a16="http://schemas.microsoft.com/office/drawing/2014/main" id="{E6049277-D58A-7322-1763-8889D048A7FD}"/>
                  </a:ext>
                </a:extLst>
              </p14:cNvPr>
              <p14:cNvContentPartPr/>
              <p14:nvPr/>
            </p14:nvContentPartPr>
            <p14:xfrm>
              <a:off x="9750566" y="3905176"/>
              <a:ext cx="1737000" cy="86760"/>
            </p14:xfrm>
          </p:contentPart>
        </mc:Choice>
        <mc:Fallback>
          <p:pic>
            <p:nvPicPr>
              <p:cNvPr id="6" name="Рукописный ввод 5">
                <a:extLst>
                  <a:ext uri="{FF2B5EF4-FFF2-40B4-BE49-F238E27FC236}">
                    <a16:creationId xmlns:a16="http://schemas.microsoft.com/office/drawing/2014/main" id="{E6049277-D58A-7322-1763-8889D048A7FD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9687566" y="3842176"/>
                <a:ext cx="1862640" cy="212400"/>
              </a:xfrm>
              <a:prstGeom prst="rect">
                <a:avLst/>
              </a:prstGeom>
            </p:spPr>
          </p:pic>
        </mc:Fallback>
      </mc:AlternateContent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887ABE4-AF2C-3070-EBF2-CF58592652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47" y="1247470"/>
            <a:ext cx="11842835" cy="7212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285599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739106-B40F-DA60-AF12-330773E39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056994-7EC5-E9DD-5BD1-4C16D3FF8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Закрываем </a:t>
            </a:r>
            <a:r>
              <a:rPr lang="ru-RU" sz="4000" b="1" dirty="0" err="1">
                <a:solidFill>
                  <a:srgbClr val="242852"/>
                </a:solidFill>
                <a:latin typeface="Calibri Light"/>
              </a:rPr>
              <a:t>пулл</a:t>
            </a:r>
            <a:r>
              <a:rPr lang="ru-RU" sz="4000" b="1" dirty="0">
                <a:solidFill>
                  <a:srgbClr val="242852"/>
                </a:solidFill>
                <a:latin typeface="Calibri Light"/>
              </a:rPr>
              <a:t> </a:t>
            </a:r>
            <a:r>
              <a:rPr lang="ru-RU" sz="4000" b="1">
                <a:solidFill>
                  <a:srgbClr val="242852"/>
                </a:solidFill>
                <a:latin typeface="Calibri Light"/>
              </a:rPr>
              <a:t>реквест</a:t>
            </a:r>
            <a:endParaRPr sz="4000" b="1" dirty="0">
              <a:solidFill>
                <a:srgbClr val="242852"/>
              </a:solidFill>
              <a:latin typeface="Calibri Light"/>
            </a:endParaRPr>
          </a:p>
        </p:txBody>
      </p:sp>
    </p:spTree>
    <p:extLst>
      <p:ext uri="{BB962C8B-B14F-4D97-AF65-F5344CB8AC3E}">
        <p14:creationId xmlns:p14="http://schemas.microsoft.com/office/powerpoint/2010/main" val="26798187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dev → stage → prod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383280" cy="1828800"/>
          </a:xfrm>
          <a:prstGeom prst="roundRect">
            <a:avLst/>
          </a:prstGeom>
          <a:solidFill>
            <a:srgbClr val="7F8F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dev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ломать можно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182880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stage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как прод, но не прод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463040"/>
            <a:ext cx="3383280" cy="182880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prod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трогаем осторожно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657600"/>
            <a:ext cx="10881360" cy="237744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6  →  pipeline: зелёные галочки dev → stage → prod (Actions / GitLab CI, см. Ш6)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Pull Request = ворота в main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554480"/>
            <a:ext cx="2411730" cy="173736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Создай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push ветки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03352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3463290" y="1554480"/>
            <a:ext cx="2411730" cy="1737360"/>
          </a:xfrm>
          <a:prstGeom prst="roundRect">
            <a:avLst/>
          </a:prstGeom>
          <a:solidFill>
            <a:srgbClr val="5AA2A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Проверки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CI зелёный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85673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6286500" y="1554480"/>
            <a:ext cx="2411730" cy="173736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Обсуди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review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79942" y="2194560"/>
            <a:ext cx="457200" cy="457200"/>
          </a:xfrm>
          <a:prstGeom prst="rightArrow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9109710" y="1554480"/>
            <a:ext cx="2411730" cy="173736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Влей</a:t>
            </a:r>
          </a:p>
          <a:p>
            <a:pPr algn="ctr">
              <a:spcBef>
                <a:spcPts val="800"/>
              </a:spcBef>
            </a:pPr>
            <a:r>
              <a:rPr sz="1300">
                <a:solidFill>
                  <a:srgbClr val="FFFFFF"/>
                </a:solidFill>
                <a:latin typeface="Calibri"/>
              </a:rPr>
              <a:t>merge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749039"/>
            <a:ext cx="10881360" cy="228600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7  →  страница PR: diff + Checks + кнопка Merge (см. Ш7)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Review: найди баг до прода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3035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✓ Логика и крайние случаи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✓ Тесты и читаемость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✓ Без секретов в коде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000">
                <a:solidFill>
                  <a:srgbClr val="333333"/>
                </a:solidFill>
                <a:latin typeface="Calibri"/>
              </a:rPr>
              <a:t>✋ Тон: к коду, не к человеку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309360" y="1463040"/>
            <a:ext cx="5212080" cy="310896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8  →  комментарий ревью: suggestion + Approve (см. Ш8)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8463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242852"/>
                </a:solidFill>
                <a:latin typeface="Calibri"/>
              </a:rPr>
              <a:t>маленький PR ревьювят за 15 минут  •  большой — никогда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Конфликт: два правят одно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0080" y="1463040"/>
            <a:ext cx="3383280" cy="1645920"/>
          </a:xfrm>
          <a:prstGeom prst="roundRect">
            <a:avLst/>
          </a:prstGeom>
          <a:solidFill>
            <a:srgbClr val="4A66A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1. pull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забери чужое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463040"/>
            <a:ext cx="3383280" cy="1645920"/>
          </a:xfrm>
          <a:prstGeom prst="roundRect">
            <a:avLst/>
          </a:prstGeom>
          <a:solidFill>
            <a:srgbClr val="297F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2. resolve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выбери правду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138160" y="1463040"/>
            <a:ext cx="3383280" cy="1645920"/>
          </a:xfrm>
          <a:prstGeom prst="roundRect">
            <a:avLst/>
          </a:prstGeom>
          <a:solidFill>
            <a:srgbClr val="242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Calibri"/>
              </a:rPr>
              <a:t>3. push</a:t>
            </a:r>
          </a:p>
          <a:p>
            <a:pPr algn="ctr">
              <a:spcBef>
                <a:spcPts val="800"/>
              </a:spcBef>
            </a:pPr>
            <a:r>
              <a:rPr sz="1400">
                <a:solidFill>
                  <a:srgbClr val="FFFFFF"/>
                </a:solidFill>
                <a:latin typeface="Calibri"/>
              </a:rPr>
              <a:t>отправь мир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74720"/>
            <a:ext cx="10881360" cy="2560320"/>
          </a:xfrm>
          <a:prstGeom prst="roundRect">
            <a:avLst/>
          </a:prstGeom>
          <a:solidFill>
            <a:srgbClr val="E8EDF4"/>
          </a:solidFill>
          <a:ln w="25400">
            <a:solidFill>
              <a:srgbClr val="7F8F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algn="ctr"/>
            <a:r>
              <a:rPr sz="1400">
                <a:solidFill>
                  <a:srgbClr val="242852"/>
                </a:solidFill>
                <a:latin typeface="Calibri"/>
              </a:rPr>
              <a:t>СКРИНШОТ 9  →  маркеры &lt;&lt;&lt;&lt;&lt;&lt;&lt; HEAD … ======= … &gt;&gt;&gt;&gt;&gt;&gt;&gt; + кнопка Resolve (см. Ш9)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4000" b="1">
                <a:solidFill>
                  <a:srgbClr val="242852"/>
                </a:solidFill>
                <a:latin typeface="Calibri Light"/>
              </a:rPr>
              <a:t>5 правил выживания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1. main не ломаем — работаем в ветках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2. Маленький PR &gt; большой подвиг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3. Зелёный CI + review = merge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4. Конфликт? Говорим, потом кликаем</a:t>
            </a:r>
          </a:p>
          <a:p>
            <a:pPr>
              <a:spcBef>
                <a:spcPts val="400"/>
              </a:spcBef>
              <a:spcAft>
                <a:spcPts val="1000"/>
              </a:spcAft>
            </a:pPr>
            <a:r>
              <a:rPr sz="2400">
                <a:solidFill>
                  <a:srgbClr val="333333"/>
                </a:solidFill>
                <a:latin typeface="Calibri"/>
              </a:rPr>
              <a:t>5. Агент готовит — человек отвечает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Спасибо! Вопросы?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Демо: ветка → PR → merge за 3 минуты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937760"/>
            <a:ext cx="108813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7F8FA9"/>
                </a:solidFill>
                <a:latin typeface="Calibri"/>
              </a:rPr>
              <a:t>repo: github.com/&lt;твой-ник&gt;/&lt;проект&gt;  •  &lt;имя&gt;  • 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плый синий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203</TotalTime>
  <Words>1518</Words>
  <Application>Microsoft Office PowerPoint</Application>
  <PresentationFormat>Широкоэкранный</PresentationFormat>
  <Paragraphs>161</Paragraphs>
  <Slides>31</Slides>
  <Notes>31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31</vt:i4>
      </vt:variant>
    </vt:vector>
  </HeadingPairs>
  <TitlesOfParts>
    <vt:vector size="35" baseType="lpstr">
      <vt:lpstr>Arial</vt:lpstr>
      <vt:lpstr>Calibri</vt:lpstr>
      <vt:lpstr>Calibri Light</vt:lpstr>
      <vt:lpstr>Тема Office</vt:lpstr>
      <vt:lpstr>Git</vt:lpstr>
      <vt:lpstr>PLAN</vt:lpstr>
      <vt:lpstr>Git = снапшоты, а не файлы</vt:lpstr>
      <vt:lpstr>GitHub vs GitLab</vt:lpstr>
      <vt:lpstr>Git ignores?</vt:lpstr>
      <vt:lpstr>Commit</vt:lpstr>
      <vt:lpstr>Commit</vt:lpstr>
      <vt:lpstr>Commit</vt:lpstr>
      <vt:lpstr>Commit/merge conflict . Там же ридми</vt:lpstr>
      <vt:lpstr>Commit/merge conflict . Там же ридми</vt:lpstr>
      <vt:lpstr>Commit/merge conflict . Там же ридми</vt:lpstr>
      <vt:lpstr>Commit/merge conflict . Там же ридми</vt:lpstr>
      <vt:lpstr>Commit/merge conflict . Там же ридми. GitHub</vt:lpstr>
      <vt:lpstr>ИИ-агенты деплоят сами?</vt:lpstr>
      <vt:lpstr>Агент: план → код → прод</vt:lpstr>
      <vt:lpstr>main — священен</vt:lpstr>
      <vt:lpstr>200 заработать, 500 потерять</vt:lpstr>
      <vt:lpstr>Путь фичи: идея → прод</vt:lpstr>
      <vt:lpstr>PR = PULL REQUEST?</vt:lpstr>
      <vt:lpstr>PR = PULL REQUEST?</vt:lpstr>
      <vt:lpstr>PR = PULL REQUEST?</vt:lpstr>
      <vt:lpstr>PR = PULL REQUEST?</vt:lpstr>
      <vt:lpstr>PR = PULL REQUEST?</vt:lpstr>
      <vt:lpstr>+ это замечание?</vt:lpstr>
      <vt:lpstr>Закрываем пулл реквест</vt:lpstr>
      <vt:lpstr>dev → stage → prod</vt:lpstr>
      <vt:lpstr>Pull Request = ворота в main</vt:lpstr>
      <vt:lpstr>Review: найди баг до прода</vt:lpstr>
      <vt:lpstr>Конфликт: два правят одно</vt:lpstr>
      <vt:lpstr>5 правил выживания</vt:lpstr>
      <vt:lpstr>Спасибо! Вопросы?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User Obstinate</dc:creator>
  <cp:lastModifiedBy>Никита Гулевич</cp:lastModifiedBy>
  <cp:revision>21</cp:revision>
  <dcterms:created xsi:type="dcterms:W3CDTF">2021-12-06T03:54:55Z</dcterms:created>
  <dcterms:modified xsi:type="dcterms:W3CDTF">2026-09-17T19:54:18Z</dcterms:modified>
</cp:coreProperties>
</file>